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TT Lakes Neue Expanded Bold" charset="1" panose="02010001040000080307"/>
      <p:regular r:id="rId25"/>
    </p:embeddedFont>
    <p:embeddedFont>
      <p:font typeface="Poppins" charset="1" panose="00000500000000000000"/>
      <p:regular r:id="rId26"/>
    </p:embeddedFont>
    <p:embeddedFont>
      <p:font typeface="Poppins Bold" charset="1" panose="00000800000000000000"/>
      <p:regular r:id="rId27"/>
    </p:embeddedFont>
    <p:embeddedFont>
      <p:font typeface="Noto Sans" charset="1" panose="020B0502040504020204"/>
      <p:regular r:id="rId28"/>
    </p:embeddedFont>
    <p:embeddedFont>
      <p:font typeface="Noto Sans Bold" charset="1" panose="020B0802040504020204"/>
      <p:regular r:id="rId29"/>
    </p:embeddedFont>
    <p:embeddedFont>
      <p:font typeface="Poppins Italics" charset="1" panose="000005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pn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3.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sv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13" Target="../media/image28.png" Type="http://schemas.openxmlformats.org/officeDocument/2006/relationships/image"/><Relationship Id="rId14" Target="../media/image29.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3.png" Type="http://schemas.openxmlformats.org/officeDocument/2006/relationships/image"/><Relationship Id="rId9"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34.png" Type="http://schemas.openxmlformats.org/officeDocument/2006/relationships/image"/><Relationship Id="rId12" Target="../media/image35.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3.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2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3.png" Type="http://schemas.openxmlformats.org/officeDocument/2006/relationships/image"/><Relationship Id="rId13" Target="../media/image42.gif"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gif" Type="http://schemas.openxmlformats.org/officeDocument/2006/relationships/image"/><Relationship Id="rId11" Target="../media/image44.gif"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sv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5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0.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 Id="rId6" Target="../media/image3.pn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5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62.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svg" Type="http://schemas.openxmlformats.org/officeDocument/2006/relationships/image"/><Relationship Id="rId11" Target="../media/image67.png" Type="http://schemas.openxmlformats.org/officeDocument/2006/relationships/image"/><Relationship Id="rId12" Target="../media/image68.svg" Type="http://schemas.openxmlformats.org/officeDocument/2006/relationships/image"/><Relationship Id="rId13" Target="../media/image28.png" Type="http://schemas.openxmlformats.org/officeDocument/2006/relationships/image"/><Relationship Id="rId14" Target="../media/image29.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media/image6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771865" y="-485270"/>
            <a:ext cx="11706247" cy="11706247"/>
          </a:xfrm>
          <a:custGeom>
            <a:avLst/>
            <a:gdLst/>
            <a:ahLst/>
            <a:cxnLst/>
            <a:rect r="r" b="b" t="t" l="l"/>
            <a:pathLst>
              <a:path h="11706247" w="11706247">
                <a:moveTo>
                  <a:pt x="0" y="0"/>
                </a:moveTo>
                <a:lnTo>
                  <a:pt x="11706247" y="0"/>
                </a:lnTo>
                <a:lnTo>
                  <a:pt x="11706247" y="11706247"/>
                </a:lnTo>
                <a:lnTo>
                  <a:pt x="0" y="117062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955865" y="837130"/>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4"/>
            <a:stretch>
              <a:fillRect l="0" t="0" r="0" b="0"/>
            </a:stretch>
          </a:blipFill>
        </p:spPr>
      </p:sp>
      <p:sp>
        <p:nvSpPr>
          <p:cNvPr name="Freeform 4" id="4"/>
          <p:cNvSpPr/>
          <p:nvPr/>
        </p:nvSpPr>
        <p:spPr>
          <a:xfrm flipH="false" flipV="false" rot="0">
            <a:off x="-5033811" y="837130"/>
            <a:ext cx="6994113" cy="8229600"/>
          </a:xfrm>
          <a:custGeom>
            <a:avLst/>
            <a:gdLst/>
            <a:ahLst/>
            <a:cxnLst/>
            <a:rect r="r" b="b" t="t" l="l"/>
            <a:pathLst>
              <a:path h="8229600" w="6994113">
                <a:moveTo>
                  <a:pt x="0" y="0"/>
                </a:moveTo>
                <a:lnTo>
                  <a:pt x="6994112" y="0"/>
                </a:lnTo>
                <a:lnTo>
                  <a:pt x="6994112" y="8229600"/>
                </a:lnTo>
                <a:lnTo>
                  <a:pt x="0" y="8229600"/>
                </a:lnTo>
                <a:lnTo>
                  <a:pt x="0" y="0"/>
                </a:lnTo>
                <a:close/>
              </a:path>
            </a:pathLst>
          </a:custGeom>
          <a:blipFill>
            <a:blip r:embed="rId4"/>
            <a:stretch>
              <a:fillRect l="0" t="0" r="0" b="0"/>
            </a:stretch>
          </a:blipFill>
        </p:spPr>
      </p:sp>
      <p:sp>
        <p:nvSpPr>
          <p:cNvPr name="Freeform 5" id="5"/>
          <p:cNvSpPr/>
          <p:nvPr/>
        </p:nvSpPr>
        <p:spPr>
          <a:xfrm flipH="false" flipV="false" rot="0">
            <a:off x="1028700" y="1600418"/>
            <a:ext cx="16514364" cy="7086163"/>
          </a:xfrm>
          <a:custGeom>
            <a:avLst/>
            <a:gdLst/>
            <a:ahLst/>
            <a:cxnLst/>
            <a:rect r="r" b="b" t="t" l="l"/>
            <a:pathLst>
              <a:path h="7086163" w="16514364">
                <a:moveTo>
                  <a:pt x="0" y="0"/>
                </a:moveTo>
                <a:lnTo>
                  <a:pt x="16514364" y="0"/>
                </a:lnTo>
                <a:lnTo>
                  <a:pt x="16514364" y="7086164"/>
                </a:lnTo>
                <a:lnTo>
                  <a:pt x="0" y="70861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467006" y="1316099"/>
            <a:ext cx="4292360" cy="5991873"/>
          </a:xfrm>
          <a:custGeom>
            <a:avLst/>
            <a:gdLst/>
            <a:ahLst/>
            <a:cxnLst/>
            <a:rect r="r" b="b" t="t" l="l"/>
            <a:pathLst>
              <a:path h="5991873" w="4292360">
                <a:moveTo>
                  <a:pt x="0" y="0"/>
                </a:moveTo>
                <a:lnTo>
                  <a:pt x="4292360" y="0"/>
                </a:lnTo>
                <a:lnTo>
                  <a:pt x="4292360" y="5991874"/>
                </a:lnTo>
                <a:lnTo>
                  <a:pt x="0" y="59918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9930173" y="1844058"/>
            <a:ext cx="5522749" cy="7047591"/>
          </a:xfrm>
          <a:custGeom>
            <a:avLst/>
            <a:gdLst/>
            <a:ahLst/>
            <a:cxnLst/>
            <a:rect r="r" b="b" t="t" l="l"/>
            <a:pathLst>
              <a:path h="7047591" w="5522749">
                <a:moveTo>
                  <a:pt x="0" y="0"/>
                </a:moveTo>
                <a:lnTo>
                  <a:pt x="5522748" y="0"/>
                </a:lnTo>
                <a:lnTo>
                  <a:pt x="5522748" y="7047591"/>
                </a:lnTo>
                <a:lnTo>
                  <a:pt x="0" y="70475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1536403" y="5250573"/>
            <a:ext cx="4637582" cy="4114800"/>
          </a:xfrm>
          <a:custGeom>
            <a:avLst/>
            <a:gdLst/>
            <a:ahLst/>
            <a:cxnLst/>
            <a:rect r="r" b="b" t="t" l="l"/>
            <a:pathLst>
              <a:path h="4114800" w="4637582">
                <a:moveTo>
                  <a:pt x="0" y="0"/>
                </a:moveTo>
                <a:lnTo>
                  <a:pt x="4637582" y="0"/>
                </a:lnTo>
                <a:lnTo>
                  <a:pt x="4637582"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2131751" y="1993959"/>
            <a:ext cx="685996" cy="518768"/>
          </a:xfrm>
          <a:custGeom>
            <a:avLst/>
            <a:gdLst/>
            <a:ahLst/>
            <a:cxnLst/>
            <a:rect r="r" b="b" t="t" l="l"/>
            <a:pathLst>
              <a:path h="518768" w="685996">
                <a:moveTo>
                  <a:pt x="0" y="0"/>
                </a:moveTo>
                <a:lnTo>
                  <a:pt x="685997" y="0"/>
                </a:lnTo>
                <a:lnTo>
                  <a:pt x="685997" y="518768"/>
                </a:lnTo>
                <a:lnTo>
                  <a:pt x="0" y="5187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8071668" y="1963445"/>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1" id="11"/>
          <p:cNvSpPr txBox="true"/>
          <p:nvPr/>
        </p:nvSpPr>
        <p:spPr>
          <a:xfrm rot="0">
            <a:off x="1593092" y="3981920"/>
            <a:ext cx="8279180" cy="1542065"/>
          </a:xfrm>
          <a:prstGeom prst="rect">
            <a:avLst/>
          </a:prstGeom>
        </p:spPr>
        <p:txBody>
          <a:bodyPr anchor="t" rtlCol="false" tIns="0" lIns="0" bIns="0" rIns="0">
            <a:spAutoFit/>
          </a:bodyPr>
          <a:lstStyle/>
          <a:p>
            <a:pPr algn="l">
              <a:lnSpc>
                <a:spcPts val="6047"/>
              </a:lnSpc>
            </a:pPr>
            <a:r>
              <a:rPr lang="en-US" sz="5759" b="true">
                <a:solidFill>
                  <a:srgbClr val="FFFFFF"/>
                </a:solidFill>
                <a:latin typeface="TT Lakes Neue Expanded Bold"/>
                <a:ea typeface="TT Lakes Neue Expanded Bold"/>
                <a:cs typeface="TT Lakes Neue Expanded Bold"/>
                <a:sym typeface="TT Lakes Neue Expanded Bold"/>
              </a:rPr>
              <a:t>ARTIFICIAL INTELLIGENCE</a:t>
            </a:r>
          </a:p>
        </p:txBody>
      </p:sp>
      <p:sp>
        <p:nvSpPr>
          <p:cNvPr name="TextBox 12" id="12"/>
          <p:cNvSpPr txBox="true"/>
          <p:nvPr/>
        </p:nvSpPr>
        <p:spPr>
          <a:xfrm rot="0">
            <a:off x="2990831" y="2156189"/>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3" id="13"/>
          <p:cNvSpPr txBox="true"/>
          <p:nvPr/>
        </p:nvSpPr>
        <p:spPr>
          <a:xfrm rot="0">
            <a:off x="2131751" y="8100034"/>
            <a:ext cx="5297759" cy="235920"/>
          </a:xfrm>
          <a:prstGeom prst="rect">
            <a:avLst/>
          </a:prstGeom>
        </p:spPr>
        <p:txBody>
          <a:bodyPr anchor="t" rtlCol="false" tIns="0" lIns="0" bIns="0" rIns="0">
            <a:spAutoFit/>
          </a:bodyPr>
          <a:lstStyle/>
          <a:p>
            <a:pPr algn="l">
              <a:lnSpc>
                <a:spcPts val="1826"/>
              </a:lnSpc>
            </a:pPr>
            <a:r>
              <a:rPr lang="en-US" sz="1739" b="true">
                <a:solidFill>
                  <a:srgbClr val="FFFFFF"/>
                </a:solidFill>
                <a:latin typeface="TT Lakes Neue Expanded Bold"/>
                <a:ea typeface="TT Lakes Neue Expanded Bold"/>
                <a:cs typeface="TT Lakes Neue Expanded Bold"/>
                <a:sym typeface="TT Lakes Neue Expanded Bold"/>
              </a:rPr>
              <a:t>TRẦN ANH KHOA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504799" y="-4310074"/>
            <a:ext cx="11706247" cy="11706247"/>
          </a:xfrm>
          <a:custGeom>
            <a:avLst/>
            <a:gdLst/>
            <a:ahLst/>
            <a:cxnLst/>
            <a:rect r="r" b="b" t="t" l="l"/>
            <a:pathLst>
              <a:path h="11706247" w="11706247">
                <a:moveTo>
                  <a:pt x="0" y="0"/>
                </a:moveTo>
                <a:lnTo>
                  <a:pt x="11706248" y="0"/>
                </a:lnTo>
                <a:lnTo>
                  <a:pt x="11706248" y="11706248"/>
                </a:lnTo>
                <a:lnTo>
                  <a:pt x="0" y="117062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449132" y="1585901"/>
            <a:ext cx="6765661" cy="7672399"/>
          </a:xfrm>
          <a:custGeom>
            <a:avLst/>
            <a:gdLst/>
            <a:ahLst/>
            <a:cxnLst/>
            <a:rect r="r" b="b" t="t" l="l"/>
            <a:pathLst>
              <a:path h="7672399" w="6765661">
                <a:moveTo>
                  <a:pt x="0" y="0"/>
                </a:moveTo>
                <a:lnTo>
                  <a:pt x="6765660" y="0"/>
                </a:lnTo>
                <a:lnTo>
                  <a:pt x="6765660" y="7672399"/>
                </a:lnTo>
                <a:lnTo>
                  <a:pt x="0" y="76723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43754" y="1585901"/>
            <a:ext cx="6765661" cy="7672399"/>
          </a:xfrm>
          <a:custGeom>
            <a:avLst/>
            <a:gdLst/>
            <a:ahLst/>
            <a:cxnLst/>
            <a:rect r="r" b="b" t="t" l="l"/>
            <a:pathLst>
              <a:path h="7672399" w="6765661">
                <a:moveTo>
                  <a:pt x="0" y="0"/>
                </a:moveTo>
                <a:lnTo>
                  <a:pt x="6765660" y="0"/>
                </a:lnTo>
                <a:lnTo>
                  <a:pt x="6765660" y="7672399"/>
                </a:lnTo>
                <a:lnTo>
                  <a:pt x="0" y="76723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65251" y="-1543050"/>
            <a:ext cx="4199655" cy="3086100"/>
            <a:chOff x="0" y="0"/>
            <a:chExt cx="1106082" cy="812800"/>
          </a:xfrm>
        </p:grpSpPr>
        <p:sp>
          <p:nvSpPr>
            <p:cNvPr name="Freeform 6" id="6"/>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7" id="7"/>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8" id="8"/>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4266984" y="2112846"/>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8"/>
            <a:stretch>
              <a:fillRect l="0" t="0" r="0" b="0"/>
            </a:stretch>
          </a:blipFill>
        </p:spPr>
      </p:sp>
      <p:sp>
        <p:nvSpPr>
          <p:cNvPr name="Freeform 10" id="10"/>
          <p:cNvSpPr/>
          <p:nvPr/>
        </p:nvSpPr>
        <p:spPr>
          <a:xfrm flipH="false" flipV="false" rot="0">
            <a:off x="3203256" y="5592480"/>
            <a:ext cx="3891704" cy="3453002"/>
          </a:xfrm>
          <a:custGeom>
            <a:avLst/>
            <a:gdLst/>
            <a:ahLst/>
            <a:cxnLst/>
            <a:rect r="r" b="b" t="t" l="l"/>
            <a:pathLst>
              <a:path h="3453002" w="3891704">
                <a:moveTo>
                  <a:pt x="0" y="0"/>
                </a:moveTo>
                <a:lnTo>
                  <a:pt x="3891703" y="0"/>
                </a:lnTo>
                <a:lnTo>
                  <a:pt x="3891703" y="3453002"/>
                </a:lnTo>
                <a:lnTo>
                  <a:pt x="0" y="34530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3203256" y="3322139"/>
            <a:ext cx="5246656" cy="2545732"/>
          </a:xfrm>
          <a:prstGeom prst="rect">
            <a:avLst/>
          </a:prstGeom>
        </p:spPr>
        <p:txBody>
          <a:bodyPr anchor="t" rtlCol="false" tIns="0" lIns="0" bIns="0" rIns="0">
            <a:spAutoFit/>
          </a:bodyPr>
          <a:lstStyle/>
          <a:p>
            <a:pPr algn="l">
              <a:lnSpc>
                <a:spcPts val="4978"/>
              </a:lnSpc>
            </a:pPr>
            <a:r>
              <a:rPr lang="en-US" sz="4741" b="true">
                <a:solidFill>
                  <a:srgbClr val="FFFFFF"/>
                </a:solidFill>
                <a:latin typeface="TT Lakes Neue Expanded Bold"/>
                <a:ea typeface="TT Lakes Neue Expanded Bold"/>
                <a:cs typeface="TT Lakes Neue Expanded Bold"/>
                <a:sym typeface="TT Lakes Neue Expanded Bold"/>
              </a:rPr>
              <a:t>PHẦN I: GIỚI THIỆU VỀ AI.</a:t>
            </a:r>
          </a:p>
          <a:p>
            <a:pPr algn="l">
              <a:lnSpc>
                <a:spcPts val="4978"/>
              </a:lnSpc>
            </a:pPr>
          </a:p>
        </p:txBody>
      </p:sp>
      <p:sp>
        <p:nvSpPr>
          <p:cNvPr name="TextBox 12" id="12"/>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Freeform 13" id="13"/>
          <p:cNvSpPr/>
          <p:nvPr/>
        </p:nvSpPr>
        <p:spPr>
          <a:xfrm flipH="false" flipV="false" rot="0">
            <a:off x="17130010" y="5422101"/>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4" id="14"/>
          <p:cNvSpPr txBox="true"/>
          <p:nvPr/>
        </p:nvSpPr>
        <p:spPr>
          <a:xfrm rot="0">
            <a:off x="10155147" y="3167605"/>
            <a:ext cx="5353630" cy="459863"/>
          </a:xfrm>
          <a:prstGeom prst="rect">
            <a:avLst/>
          </a:prstGeom>
        </p:spPr>
        <p:txBody>
          <a:bodyPr anchor="t" rtlCol="false" tIns="0" lIns="0" bIns="0" rIns="0">
            <a:spAutoFit/>
          </a:bodyPr>
          <a:lstStyle/>
          <a:p>
            <a:pPr algn="just">
              <a:lnSpc>
                <a:spcPts val="3296"/>
              </a:lnSpc>
              <a:spcBef>
                <a:spcPct val="0"/>
              </a:spcBef>
            </a:pPr>
            <a:r>
              <a:rPr lang="en-US" sz="3139" spc="106">
                <a:solidFill>
                  <a:srgbClr val="FFFFFF"/>
                </a:solidFill>
                <a:latin typeface="Poppins"/>
                <a:ea typeface="Poppins"/>
                <a:cs typeface="Poppins"/>
                <a:sym typeface="Poppins"/>
              </a:rPr>
              <a:t>1.1: AI là gì?</a:t>
            </a:r>
          </a:p>
        </p:txBody>
      </p:sp>
      <p:sp>
        <p:nvSpPr>
          <p:cNvPr name="TextBox 15" id="15"/>
          <p:cNvSpPr txBox="true"/>
          <p:nvPr/>
        </p:nvSpPr>
        <p:spPr>
          <a:xfrm rot="0">
            <a:off x="10155147" y="4101805"/>
            <a:ext cx="5353630" cy="459863"/>
          </a:xfrm>
          <a:prstGeom prst="rect">
            <a:avLst/>
          </a:prstGeom>
        </p:spPr>
        <p:txBody>
          <a:bodyPr anchor="t" rtlCol="false" tIns="0" lIns="0" bIns="0" rIns="0">
            <a:spAutoFit/>
          </a:bodyPr>
          <a:lstStyle/>
          <a:p>
            <a:pPr algn="l" marL="677880" indent="-338940" lvl="1">
              <a:lnSpc>
                <a:spcPts val="3296"/>
              </a:lnSpc>
              <a:spcBef>
                <a:spcPct val="0"/>
              </a:spcBef>
              <a:buFont typeface="Arial"/>
              <a:buChar char="•"/>
            </a:pPr>
            <a:r>
              <a:rPr lang="en-US" sz="3139" spc="106">
                <a:solidFill>
                  <a:srgbClr val="FFFFFF"/>
                </a:solidFill>
                <a:latin typeface="Poppins"/>
                <a:ea typeface="Poppins"/>
                <a:cs typeface="Poppins"/>
                <a:sym typeface="Poppins"/>
              </a:rPr>
              <a:t>Khái niệm</a:t>
            </a:r>
          </a:p>
        </p:txBody>
      </p:sp>
      <p:sp>
        <p:nvSpPr>
          <p:cNvPr name="TextBox 16" id="16"/>
          <p:cNvSpPr txBox="true"/>
          <p:nvPr/>
        </p:nvSpPr>
        <p:spPr>
          <a:xfrm rot="0">
            <a:off x="10155147" y="5036004"/>
            <a:ext cx="5353630" cy="459863"/>
          </a:xfrm>
          <a:prstGeom prst="rect">
            <a:avLst/>
          </a:prstGeom>
        </p:spPr>
        <p:txBody>
          <a:bodyPr anchor="t" rtlCol="false" tIns="0" lIns="0" bIns="0" rIns="0">
            <a:spAutoFit/>
          </a:bodyPr>
          <a:lstStyle/>
          <a:p>
            <a:pPr algn="l" marL="677880" indent="-338940" lvl="1">
              <a:lnSpc>
                <a:spcPts val="3296"/>
              </a:lnSpc>
              <a:spcBef>
                <a:spcPct val="0"/>
              </a:spcBef>
              <a:buFont typeface="Arial"/>
              <a:buChar char="•"/>
            </a:pPr>
            <a:r>
              <a:rPr lang="en-US" sz="3139" spc="106">
                <a:solidFill>
                  <a:srgbClr val="FFFFFF"/>
                </a:solidFill>
                <a:latin typeface="Poppins"/>
                <a:ea typeface="Poppins"/>
                <a:cs typeface="Poppins"/>
                <a:sym typeface="Poppins"/>
              </a:rPr>
              <a:t>Các lĩnh vực về AI</a:t>
            </a:r>
          </a:p>
        </p:txBody>
      </p:sp>
      <p:sp>
        <p:nvSpPr>
          <p:cNvPr name="TextBox 17" id="17"/>
          <p:cNvSpPr txBox="true"/>
          <p:nvPr/>
        </p:nvSpPr>
        <p:spPr>
          <a:xfrm rot="0">
            <a:off x="10155147" y="5970204"/>
            <a:ext cx="5353630" cy="869438"/>
          </a:xfrm>
          <a:prstGeom prst="rect">
            <a:avLst/>
          </a:prstGeom>
        </p:spPr>
        <p:txBody>
          <a:bodyPr anchor="t" rtlCol="false" tIns="0" lIns="0" bIns="0" rIns="0">
            <a:spAutoFit/>
          </a:bodyPr>
          <a:lstStyle/>
          <a:p>
            <a:pPr algn="l" marL="677880" indent="-338940" lvl="1">
              <a:lnSpc>
                <a:spcPts val="3296"/>
              </a:lnSpc>
              <a:spcBef>
                <a:spcPct val="0"/>
              </a:spcBef>
              <a:buFont typeface="Arial"/>
              <a:buChar char="•"/>
            </a:pPr>
            <a:r>
              <a:rPr lang="en-US" sz="3139" spc="106">
                <a:solidFill>
                  <a:srgbClr val="FFFFFF"/>
                </a:solidFill>
                <a:latin typeface="Poppins"/>
                <a:ea typeface="Poppins"/>
                <a:cs typeface="Poppins"/>
                <a:sym typeface="Poppins"/>
              </a:rPr>
              <a:t>Ứng dụng AI trong thực tế</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511861" y="1543050"/>
            <a:ext cx="8776139" cy="9617687"/>
          </a:xfrm>
          <a:custGeom>
            <a:avLst/>
            <a:gdLst/>
            <a:ahLst/>
            <a:cxnLst/>
            <a:rect r="r" b="b" t="t" l="l"/>
            <a:pathLst>
              <a:path h="9617687" w="8776139">
                <a:moveTo>
                  <a:pt x="0" y="0"/>
                </a:moveTo>
                <a:lnTo>
                  <a:pt x="8776139" y="0"/>
                </a:lnTo>
                <a:lnTo>
                  <a:pt x="8776139" y="9617687"/>
                </a:lnTo>
                <a:lnTo>
                  <a:pt x="0" y="96176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955865" y="837130"/>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6"/>
            <a:stretch>
              <a:fillRect l="0" t="0" r="0" b="0"/>
            </a:stretch>
          </a:blipFill>
        </p:spPr>
      </p:sp>
      <p:sp>
        <p:nvSpPr>
          <p:cNvPr name="Freeform 8" id="8"/>
          <p:cNvSpPr/>
          <p:nvPr/>
        </p:nvSpPr>
        <p:spPr>
          <a:xfrm flipH="false" flipV="false" rot="0">
            <a:off x="8368259" y="2636395"/>
            <a:ext cx="4637582" cy="4114800"/>
          </a:xfrm>
          <a:custGeom>
            <a:avLst/>
            <a:gdLst/>
            <a:ahLst/>
            <a:cxnLst/>
            <a:rect r="r" b="b" t="t" l="l"/>
            <a:pathLst>
              <a:path h="4114800" w="4637582">
                <a:moveTo>
                  <a:pt x="0" y="0"/>
                </a:moveTo>
                <a:lnTo>
                  <a:pt x="4637582" y="0"/>
                </a:lnTo>
                <a:lnTo>
                  <a:pt x="4637582"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Freeform 10" id="10"/>
          <p:cNvSpPr/>
          <p:nvPr/>
        </p:nvSpPr>
        <p:spPr>
          <a:xfrm flipH="false" flipV="false" rot="0">
            <a:off x="853507" y="2521434"/>
            <a:ext cx="7315200" cy="2433967"/>
          </a:xfrm>
          <a:custGeom>
            <a:avLst/>
            <a:gdLst/>
            <a:ahLst/>
            <a:cxnLst/>
            <a:rect r="r" b="b" t="t" l="l"/>
            <a:pathLst>
              <a:path h="2433967" w="7315200">
                <a:moveTo>
                  <a:pt x="0" y="0"/>
                </a:moveTo>
                <a:lnTo>
                  <a:pt x="7315200" y="0"/>
                </a:lnTo>
                <a:lnTo>
                  <a:pt x="7315200" y="2433967"/>
                </a:lnTo>
                <a:lnTo>
                  <a:pt x="0" y="24339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577269" y="3017347"/>
            <a:ext cx="5867677" cy="128095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1.2: DỮ LIỆU LÀ GÌ?</a:t>
            </a:r>
          </a:p>
        </p:txBody>
      </p:sp>
      <p:sp>
        <p:nvSpPr>
          <p:cNvPr name="Freeform 12" id="12"/>
          <p:cNvSpPr/>
          <p:nvPr/>
        </p:nvSpPr>
        <p:spPr>
          <a:xfrm flipH="false" flipV="false" rot="0">
            <a:off x="1440055" y="9304465"/>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853507" y="7477456"/>
            <a:ext cx="6906841" cy="1032787"/>
          </a:xfrm>
          <a:prstGeom prst="rect">
            <a:avLst/>
          </a:prstGeom>
        </p:spPr>
        <p:txBody>
          <a:bodyPr anchor="t" rtlCol="false" tIns="0" lIns="0" bIns="0" rIns="0">
            <a:spAutoFit/>
          </a:bodyPr>
          <a:lstStyle/>
          <a:p>
            <a:pPr algn="just">
              <a:lnSpc>
                <a:spcPts val="3905"/>
              </a:lnSpc>
              <a:spcBef>
                <a:spcPct val="0"/>
              </a:spcBef>
            </a:pPr>
            <a:r>
              <a:rPr lang="en-US" sz="3719" spc="126">
                <a:solidFill>
                  <a:srgbClr val="FFFFFF"/>
                </a:solidFill>
                <a:latin typeface="Poppins"/>
                <a:ea typeface="Poppins"/>
                <a:cs typeface="Poppins"/>
                <a:sym typeface="Poppins"/>
              </a:rPr>
              <a:t>Tại sao dữ liệu lại cần thiết và quan trọng trong AI?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333483" y="-5083807"/>
            <a:ext cx="11706247" cy="11706247"/>
          </a:xfrm>
          <a:custGeom>
            <a:avLst/>
            <a:gdLst/>
            <a:ahLst/>
            <a:cxnLst/>
            <a:rect r="r" b="b" t="t" l="l"/>
            <a:pathLst>
              <a:path h="11706247" w="11706247">
                <a:moveTo>
                  <a:pt x="0" y="0"/>
                </a:moveTo>
                <a:lnTo>
                  <a:pt x="11706247" y="0"/>
                </a:lnTo>
                <a:lnTo>
                  <a:pt x="11706247" y="11706247"/>
                </a:lnTo>
                <a:lnTo>
                  <a:pt x="0" y="117062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783619" y="1543050"/>
            <a:ext cx="10611757" cy="9782111"/>
          </a:xfrm>
          <a:custGeom>
            <a:avLst/>
            <a:gdLst/>
            <a:ahLst/>
            <a:cxnLst/>
            <a:rect r="r" b="b" t="t" l="l"/>
            <a:pathLst>
              <a:path h="9782111" w="10611757">
                <a:moveTo>
                  <a:pt x="0" y="0"/>
                </a:moveTo>
                <a:lnTo>
                  <a:pt x="10611758" y="0"/>
                </a:lnTo>
                <a:lnTo>
                  <a:pt x="10611758" y="9782111"/>
                </a:lnTo>
                <a:lnTo>
                  <a:pt x="0" y="97821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062196" y="1351079"/>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8"/>
            <a:stretch>
              <a:fillRect l="0" t="0" r="0" b="0"/>
            </a:stretch>
          </a:blipFill>
        </p:spPr>
      </p:sp>
      <p:sp>
        <p:nvSpPr>
          <p:cNvPr name="Freeform 6" id="6"/>
          <p:cNvSpPr/>
          <p:nvPr/>
        </p:nvSpPr>
        <p:spPr>
          <a:xfrm flipH="false" flipV="false" rot="0">
            <a:off x="1028700" y="2482354"/>
            <a:ext cx="4950393" cy="7521315"/>
          </a:xfrm>
          <a:custGeom>
            <a:avLst/>
            <a:gdLst/>
            <a:ahLst/>
            <a:cxnLst/>
            <a:rect r="r" b="b" t="t" l="l"/>
            <a:pathLst>
              <a:path h="7521315" w="4950393">
                <a:moveTo>
                  <a:pt x="0" y="0"/>
                </a:moveTo>
                <a:lnTo>
                  <a:pt x="4950393" y="0"/>
                </a:lnTo>
                <a:lnTo>
                  <a:pt x="4950393" y="7521315"/>
                </a:lnTo>
                <a:lnTo>
                  <a:pt x="0" y="752131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2601680" y="3591302"/>
            <a:ext cx="3665913" cy="4114800"/>
          </a:xfrm>
          <a:custGeom>
            <a:avLst/>
            <a:gdLst/>
            <a:ahLst/>
            <a:cxnLst/>
            <a:rect r="r" b="b" t="t" l="l"/>
            <a:pathLst>
              <a:path h="4114800" w="3665913">
                <a:moveTo>
                  <a:pt x="0" y="0"/>
                </a:moveTo>
                <a:lnTo>
                  <a:pt x="3665912" y="0"/>
                </a:lnTo>
                <a:lnTo>
                  <a:pt x="3665912"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8" id="8"/>
          <p:cNvGrpSpPr/>
          <p:nvPr/>
        </p:nvGrpSpPr>
        <p:grpSpPr>
          <a:xfrm rot="0">
            <a:off x="7306845" y="3521740"/>
            <a:ext cx="3814194" cy="748374"/>
            <a:chOff x="0" y="0"/>
            <a:chExt cx="1004561" cy="197103"/>
          </a:xfrm>
        </p:grpSpPr>
        <p:sp>
          <p:nvSpPr>
            <p:cNvPr name="Freeform 9" id="9"/>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0" id="10"/>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11" id="11"/>
          <p:cNvSpPr/>
          <p:nvPr/>
        </p:nvSpPr>
        <p:spPr>
          <a:xfrm flipH="false" flipV="false" rot="0">
            <a:off x="7436144" y="3666600"/>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2" id="12"/>
          <p:cNvGrpSpPr/>
          <p:nvPr/>
        </p:nvGrpSpPr>
        <p:grpSpPr>
          <a:xfrm rot="0">
            <a:off x="7306845" y="4900328"/>
            <a:ext cx="3814194" cy="748374"/>
            <a:chOff x="0" y="0"/>
            <a:chExt cx="1004561" cy="197103"/>
          </a:xfrm>
        </p:grpSpPr>
        <p:sp>
          <p:nvSpPr>
            <p:cNvPr name="Freeform 13" id="13"/>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4" id="14"/>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15" id="15"/>
          <p:cNvSpPr/>
          <p:nvPr/>
        </p:nvSpPr>
        <p:spPr>
          <a:xfrm flipH="false" flipV="false" rot="0">
            <a:off x="7520942" y="5035219"/>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16984659" y="653111"/>
            <a:ext cx="549282" cy="549282"/>
          </a:xfrm>
          <a:custGeom>
            <a:avLst/>
            <a:gdLst/>
            <a:ahLst/>
            <a:cxnLst/>
            <a:rect r="r" b="b" t="t" l="l"/>
            <a:pathLst>
              <a:path h="549282" w="549282">
                <a:moveTo>
                  <a:pt x="0" y="0"/>
                </a:moveTo>
                <a:lnTo>
                  <a:pt x="549282" y="0"/>
                </a:lnTo>
                <a:lnTo>
                  <a:pt x="549282" y="549283"/>
                </a:lnTo>
                <a:lnTo>
                  <a:pt x="0" y="54928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7" id="17"/>
          <p:cNvGrpSpPr/>
          <p:nvPr/>
        </p:nvGrpSpPr>
        <p:grpSpPr>
          <a:xfrm rot="0">
            <a:off x="7306845" y="6515477"/>
            <a:ext cx="3814194" cy="748374"/>
            <a:chOff x="0" y="0"/>
            <a:chExt cx="1004561" cy="197103"/>
          </a:xfrm>
        </p:grpSpPr>
        <p:sp>
          <p:nvSpPr>
            <p:cNvPr name="Freeform 18" id="18"/>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9" id="19"/>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20" id="20"/>
          <p:cNvSpPr/>
          <p:nvPr/>
        </p:nvSpPr>
        <p:spPr>
          <a:xfrm flipH="false" flipV="false" rot="0">
            <a:off x="7436144" y="6626162"/>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1" id="21"/>
          <p:cNvSpPr txBox="true"/>
          <p:nvPr/>
        </p:nvSpPr>
        <p:spPr>
          <a:xfrm rot="0">
            <a:off x="7306845" y="2336027"/>
            <a:ext cx="9451515" cy="953294"/>
          </a:xfrm>
          <a:prstGeom prst="rect">
            <a:avLst/>
          </a:prstGeom>
        </p:spPr>
        <p:txBody>
          <a:bodyPr anchor="t" rtlCol="false" tIns="0" lIns="0" bIns="0" rIns="0">
            <a:spAutoFit/>
          </a:bodyPr>
          <a:lstStyle/>
          <a:p>
            <a:pPr algn="l">
              <a:lnSpc>
                <a:spcPts val="3718"/>
              </a:lnSpc>
            </a:pPr>
            <a:r>
              <a:rPr lang="en-US" sz="3541" b="true">
                <a:solidFill>
                  <a:srgbClr val="FFFFFF"/>
                </a:solidFill>
                <a:latin typeface="TT Lakes Neue Expanded Bold"/>
                <a:ea typeface="TT Lakes Neue Expanded Bold"/>
                <a:cs typeface="TT Lakes Neue Expanded Bold"/>
                <a:sym typeface="TT Lakes Neue Expanded Bold"/>
              </a:rPr>
              <a:t>3 LOẠI BÀI TOÁN CHÍNH TRONG MACHINE LEARNING</a:t>
            </a:r>
          </a:p>
        </p:txBody>
      </p:sp>
      <p:sp>
        <p:nvSpPr>
          <p:cNvPr name="TextBox 22" id="22"/>
          <p:cNvSpPr txBox="true"/>
          <p:nvPr/>
        </p:nvSpPr>
        <p:spPr>
          <a:xfrm rot="0">
            <a:off x="7907029" y="3746958"/>
            <a:ext cx="3038854" cy="284603"/>
          </a:xfrm>
          <a:prstGeom prst="rect">
            <a:avLst/>
          </a:prstGeom>
        </p:spPr>
        <p:txBody>
          <a:bodyPr anchor="t" rtlCol="false" tIns="0" lIns="0" bIns="0" rIns="0">
            <a:spAutoFit/>
          </a:bodyPr>
          <a:lstStyle/>
          <a:p>
            <a:pPr algn="just">
              <a:lnSpc>
                <a:spcPts val="2036"/>
              </a:lnSpc>
              <a:spcBef>
                <a:spcPct val="0"/>
              </a:spcBef>
            </a:pPr>
            <a:r>
              <a:rPr lang="en-US" b="true" sz="1939" spc="65">
                <a:solidFill>
                  <a:srgbClr val="FFFFFF"/>
                </a:solidFill>
                <a:latin typeface="Poppins Bold"/>
                <a:ea typeface="Poppins Bold"/>
                <a:cs typeface="Poppins Bold"/>
                <a:sym typeface="Poppins Bold"/>
              </a:rPr>
              <a:t>SUPERVISED LEARNING</a:t>
            </a:r>
          </a:p>
        </p:txBody>
      </p:sp>
      <p:sp>
        <p:nvSpPr>
          <p:cNvPr name="TextBox 23" id="23"/>
          <p:cNvSpPr txBox="true"/>
          <p:nvPr/>
        </p:nvSpPr>
        <p:spPr>
          <a:xfrm rot="0">
            <a:off x="7953503" y="5149752"/>
            <a:ext cx="3038854" cy="252219"/>
          </a:xfrm>
          <a:prstGeom prst="rect">
            <a:avLst/>
          </a:prstGeom>
        </p:spPr>
        <p:txBody>
          <a:bodyPr anchor="t" rtlCol="false" tIns="0" lIns="0" bIns="0" rIns="0">
            <a:spAutoFit/>
          </a:bodyPr>
          <a:lstStyle/>
          <a:p>
            <a:pPr algn="just">
              <a:lnSpc>
                <a:spcPts val="1826"/>
              </a:lnSpc>
              <a:spcBef>
                <a:spcPct val="0"/>
              </a:spcBef>
            </a:pPr>
            <a:r>
              <a:rPr lang="en-US" b="true" sz="1739" spc="59">
                <a:solidFill>
                  <a:srgbClr val="FFFFFF"/>
                </a:solidFill>
                <a:latin typeface="Poppins Bold"/>
                <a:ea typeface="Poppins Bold"/>
                <a:cs typeface="Poppins Bold"/>
                <a:sym typeface="Poppins Bold"/>
              </a:rPr>
              <a:t>UNSUPERVISED LEARNING</a:t>
            </a:r>
          </a:p>
        </p:txBody>
      </p:sp>
      <p:sp>
        <p:nvSpPr>
          <p:cNvPr name="TextBox 24" id="24"/>
          <p:cNvSpPr txBox="true"/>
          <p:nvPr/>
        </p:nvSpPr>
        <p:spPr>
          <a:xfrm rot="0">
            <a:off x="7907029" y="6780183"/>
            <a:ext cx="3038854" cy="231264"/>
          </a:xfrm>
          <a:prstGeom prst="rect">
            <a:avLst/>
          </a:prstGeom>
        </p:spPr>
        <p:txBody>
          <a:bodyPr anchor="t" rtlCol="false" tIns="0" lIns="0" bIns="0" rIns="0">
            <a:spAutoFit/>
          </a:bodyPr>
          <a:lstStyle/>
          <a:p>
            <a:pPr algn="just">
              <a:lnSpc>
                <a:spcPts val="1721"/>
              </a:lnSpc>
              <a:spcBef>
                <a:spcPct val="0"/>
              </a:spcBef>
            </a:pPr>
            <a:r>
              <a:rPr lang="en-US" b="true" sz="1639" spc="55">
                <a:solidFill>
                  <a:srgbClr val="FFFFFF"/>
                </a:solidFill>
                <a:latin typeface="Poppins Bold"/>
                <a:ea typeface="Poppins Bold"/>
                <a:cs typeface="Poppins Bold"/>
                <a:sym typeface="Poppins Bold"/>
              </a:rPr>
              <a:t>REINFORCEMENT LEARNING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690960" y="493801"/>
            <a:ext cx="10793017" cy="65230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BẢNG SO SÁNH</a:t>
            </a:r>
          </a:p>
        </p:txBody>
      </p:sp>
      <p:sp>
        <p:nvSpPr>
          <p:cNvPr name="Freeform 4" id="4"/>
          <p:cNvSpPr/>
          <p:nvPr/>
        </p:nvSpPr>
        <p:spPr>
          <a:xfrm flipH="false" flipV="true" rot="0">
            <a:off x="13292151" y="-2989286"/>
            <a:ext cx="5081025" cy="5978571"/>
          </a:xfrm>
          <a:custGeom>
            <a:avLst/>
            <a:gdLst/>
            <a:ahLst/>
            <a:cxnLst/>
            <a:rect r="r" b="b" t="t" l="l"/>
            <a:pathLst>
              <a:path h="5978571" w="5081025">
                <a:moveTo>
                  <a:pt x="0" y="5978572"/>
                </a:moveTo>
                <a:lnTo>
                  <a:pt x="5081025" y="5978572"/>
                </a:lnTo>
                <a:lnTo>
                  <a:pt x="5081025" y="0"/>
                </a:lnTo>
                <a:lnTo>
                  <a:pt x="0" y="0"/>
                </a:lnTo>
                <a:lnTo>
                  <a:pt x="0" y="5978572"/>
                </a:lnTo>
                <a:close/>
              </a:path>
            </a:pathLst>
          </a:custGeom>
          <a:blipFill>
            <a:blip r:embed="rId4"/>
            <a:stretch>
              <a:fillRect l="0" t="0" r="0" b="0"/>
            </a:stretch>
          </a:blipFill>
        </p:spPr>
      </p:sp>
      <p:graphicFrame>
        <p:nvGraphicFramePr>
          <p:cNvPr name="Table 5" id="5"/>
          <p:cNvGraphicFramePr>
            <a:graphicFrameLocks noGrp="true"/>
          </p:cNvGraphicFramePr>
          <p:nvPr/>
        </p:nvGraphicFramePr>
        <p:xfrm>
          <a:off x="3071982" y="1935911"/>
          <a:ext cx="12030974" cy="7858125"/>
        </p:xfrm>
        <a:graphic>
          <a:graphicData uri="http://schemas.openxmlformats.org/drawingml/2006/table">
            <a:tbl>
              <a:tblPr/>
              <a:tblGrid>
                <a:gridCol w="3007743"/>
                <a:gridCol w="3007743"/>
                <a:gridCol w="3007743"/>
                <a:gridCol w="3007743"/>
              </a:tblGrid>
              <a:tr h="1024141">
                <a:tc>
                  <a:txBody>
                    <a:bodyPr anchor="t" rtlCol="false"/>
                    <a:lstStyle/>
                    <a:p>
                      <a:pPr algn="l">
                        <a:lnSpc>
                          <a:spcPts val="2660"/>
                        </a:lnSpc>
                        <a:defRPr/>
                      </a:pPr>
                      <a:r>
                        <a:rPr lang="en-US" sz="1900">
                          <a:solidFill>
                            <a:srgbClr val="FBFEFE"/>
                          </a:solidFill>
                          <a:latin typeface="Noto Sans"/>
                          <a:ea typeface="Noto Sans"/>
                          <a:cs typeface="Noto Sans"/>
                          <a:sym typeface="Noto Sans"/>
                        </a:rPr>
                        <a:t>Tiêu chí</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Học có giám sát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Học không giám sát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Học tăng cường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138997">
                <a:tc>
                  <a:txBody>
                    <a:bodyPr anchor="t" rtlCol="false"/>
                    <a:lstStyle/>
                    <a:p>
                      <a:pPr algn="l">
                        <a:lnSpc>
                          <a:spcPts val="2660"/>
                        </a:lnSpc>
                        <a:defRPr/>
                      </a:pPr>
                      <a:r>
                        <a:rPr lang="en-US" sz="1900">
                          <a:solidFill>
                            <a:srgbClr val="FBFEFE"/>
                          </a:solidFill>
                          <a:latin typeface="Noto Sans"/>
                          <a:ea typeface="Noto Sans"/>
                          <a:cs typeface="Noto Sans"/>
                          <a:sym typeface="Noto Sans"/>
                        </a:rPr>
                        <a:t>Tiếng Anh</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Supervised Learning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Unsupervised Learning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Reinforcement Learning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138997">
                <a:tc>
                  <a:txBody>
                    <a:bodyPr anchor="t" rtlCol="false"/>
                    <a:lstStyle/>
                    <a:p>
                      <a:pPr algn="l">
                        <a:lnSpc>
                          <a:spcPts val="2800"/>
                        </a:lnSpc>
                        <a:defRPr/>
                      </a:pPr>
                      <a:r>
                        <a:rPr lang="en-US" sz="2000">
                          <a:solidFill>
                            <a:srgbClr val="FBFEFE"/>
                          </a:solidFill>
                          <a:latin typeface="Noto Sans"/>
                          <a:ea typeface="Noto Sans"/>
                          <a:cs typeface="Noto Sans"/>
                          <a:sym typeface="Noto Sans"/>
                        </a:rPr>
                        <a:t>Dữ liệu / tín hiệu học</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Dữ liệu có nhãn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Dữ liệu không có nhãn đáp án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Tương tác và tín hiệu thưởng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138997">
                <a:tc>
                  <a:txBody>
                    <a:bodyPr anchor="t" rtlCol="false"/>
                    <a:lstStyle/>
                    <a:p>
                      <a:pPr algn="l">
                        <a:lnSpc>
                          <a:spcPts val="2660"/>
                        </a:lnSpc>
                        <a:defRPr/>
                      </a:pPr>
                      <a:r>
                        <a:rPr lang="en-US" sz="1900">
                          <a:solidFill>
                            <a:srgbClr val="FBFEFE"/>
                          </a:solidFill>
                          <a:latin typeface="Noto Sans"/>
                          <a:ea typeface="Noto Sans"/>
                          <a:cs typeface="Noto Sans"/>
                          <a:sym typeface="Noto Sans"/>
                        </a:rPr>
                        <a:t>Mục tiêu</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Dự đoán nhãn hoặc giá trị</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Tìm cấu trúc, nhóm hoặc quy luật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Học chiến lược hành động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138997">
                <a:tc>
                  <a:txBody>
                    <a:bodyPr anchor="t" rtlCol="false"/>
                    <a:lstStyle/>
                    <a:p>
                      <a:pPr algn="l">
                        <a:lnSpc>
                          <a:spcPts val="2660"/>
                        </a:lnSpc>
                        <a:defRPr/>
                      </a:pPr>
                      <a:r>
                        <a:rPr lang="en-US" sz="1900">
                          <a:solidFill>
                            <a:srgbClr val="FBFEFE"/>
                          </a:solidFill>
                          <a:latin typeface="Noto Sans"/>
                          <a:ea typeface="Noto Sans"/>
                          <a:cs typeface="Noto Sans"/>
                          <a:sym typeface="Noto Sans"/>
                        </a:rPr>
                        <a:t>Ví dụ</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Phân loại email</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Phân nhóm khách hàng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AI chơi game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138997">
                <a:tc>
                  <a:txBody>
                    <a:bodyPr anchor="t" rtlCol="false"/>
                    <a:lstStyle/>
                    <a:p>
                      <a:pPr algn="l">
                        <a:lnSpc>
                          <a:spcPts val="2660"/>
                        </a:lnSpc>
                        <a:defRPr/>
                      </a:pPr>
                      <a:r>
                        <a:rPr lang="en-US" sz="1900">
                          <a:solidFill>
                            <a:srgbClr val="FBFEFE"/>
                          </a:solidFill>
                          <a:latin typeface="Noto Sans"/>
                          <a:ea typeface="Noto Sans"/>
                          <a:cs typeface="Noto Sans"/>
                          <a:sym typeface="Noto Sans"/>
                        </a:rPr>
                        <a:t>Thuật toán tiêu biểu</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Linear Regression, Decision Tree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K-means, PCA</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Q-learning, PPO</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138997">
                <a:tc>
                  <a:txBody>
                    <a:bodyPr anchor="t" rtlCol="false"/>
                    <a:lstStyle/>
                    <a:p>
                      <a:pPr algn="l">
                        <a:lnSpc>
                          <a:spcPts val="2660"/>
                        </a:lnSpc>
                        <a:defRPr/>
                      </a:pPr>
                      <a:r>
                        <a:rPr lang="en-US" sz="1900">
                          <a:solidFill>
                            <a:srgbClr val="FBFEFE"/>
                          </a:solidFill>
                          <a:latin typeface="Noto Sans"/>
                          <a:ea typeface="Noto Sans"/>
                          <a:cs typeface="Noto Sans"/>
                          <a:sym typeface="Noto Sans"/>
                        </a:rPr>
                        <a:t>Đầu ra thường gặp</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Nhãn hoặc giá trị dự đoán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Cụm hoặc biểu diễn dữ liệu</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660"/>
                        </a:lnSpc>
                        <a:defRPr/>
                      </a:pPr>
                      <a:r>
                        <a:rPr lang="en-US" sz="1900">
                          <a:solidFill>
                            <a:srgbClr val="FBFEFE"/>
                          </a:solidFill>
                          <a:latin typeface="Noto Sans"/>
                          <a:ea typeface="Noto Sans"/>
                          <a:cs typeface="Noto Sans"/>
                          <a:sym typeface="Noto Sans"/>
                        </a:rPr>
                        <a:t>Policy lựa chọn hành động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951130"/>
            <a:ext cx="12571225" cy="11291245"/>
          </a:xfrm>
          <a:custGeom>
            <a:avLst/>
            <a:gdLst/>
            <a:ahLst/>
            <a:cxnLst/>
            <a:rect r="r" b="b" t="t" l="l"/>
            <a:pathLst>
              <a:path h="11291245" w="12571225">
                <a:moveTo>
                  <a:pt x="0" y="0"/>
                </a:moveTo>
                <a:lnTo>
                  <a:pt x="12571225" y="0"/>
                </a:lnTo>
                <a:lnTo>
                  <a:pt x="12571225" y="11291246"/>
                </a:lnTo>
                <a:lnTo>
                  <a:pt x="0" y="112912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599925" y="8795479"/>
            <a:ext cx="1491521" cy="1491521"/>
          </a:xfrm>
          <a:custGeom>
            <a:avLst/>
            <a:gdLst/>
            <a:ahLst/>
            <a:cxnLst/>
            <a:rect r="r" b="b" t="t" l="l"/>
            <a:pathLst>
              <a:path h="1491521" w="1491521">
                <a:moveTo>
                  <a:pt x="0" y="0"/>
                </a:moveTo>
                <a:lnTo>
                  <a:pt x="1491521" y="0"/>
                </a:lnTo>
                <a:lnTo>
                  <a:pt x="1491521" y="1491521"/>
                </a:lnTo>
                <a:lnTo>
                  <a:pt x="0" y="14915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984659" y="653111"/>
            <a:ext cx="549282" cy="549282"/>
          </a:xfrm>
          <a:custGeom>
            <a:avLst/>
            <a:gdLst/>
            <a:ahLst/>
            <a:cxnLst/>
            <a:rect r="r" b="b" t="t" l="l"/>
            <a:pathLst>
              <a:path h="549282" w="549282">
                <a:moveTo>
                  <a:pt x="0" y="0"/>
                </a:moveTo>
                <a:lnTo>
                  <a:pt x="549282" y="0"/>
                </a:lnTo>
                <a:lnTo>
                  <a:pt x="549282" y="549283"/>
                </a:lnTo>
                <a:lnTo>
                  <a:pt x="0" y="5492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238100" y="1879995"/>
            <a:ext cx="4607176" cy="5421018"/>
          </a:xfrm>
          <a:custGeom>
            <a:avLst/>
            <a:gdLst/>
            <a:ahLst/>
            <a:cxnLst/>
            <a:rect r="r" b="b" t="t" l="l"/>
            <a:pathLst>
              <a:path h="5421018" w="4607176">
                <a:moveTo>
                  <a:pt x="0" y="0"/>
                </a:moveTo>
                <a:lnTo>
                  <a:pt x="4607175" y="0"/>
                </a:lnTo>
                <a:lnTo>
                  <a:pt x="4607175" y="5421018"/>
                </a:lnTo>
                <a:lnTo>
                  <a:pt x="0" y="5421018"/>
                </a:lnTo>
                <a:lnTo>
                  <a:pt x="0" y="0"/>
                </a:lnTo>
                <a:close/>
              </a:path>
            </a:pathLst>
          </a:custGeom>
          <a:blipFill>
            <a:blip r:embed="rId10"/>
            <a:stretch>
              <a:fillRect l="0" t="0" r="0" b="0"/>
            </a:stretch>
          </a:blipFill>
        </p:spPr>
      </p:sp>
      <p:sp>
        <p:nvSpPr>
          <p:cNvPr name="Freeform 10" id="10"/>
          <p:cNvSpPr/>
          <p:nvPr/>
        </p:nvSpPr>
        <p:spPr>
          <a:xfrm flipH="false" flipV="false" rot="0">
            <a:off x="12955069" y="3257416"/>
            <a:ext cx="5873365" cy="6000884"/>
          </a:xfrm>
          <a:custGeom>
            <a:avLst/>
            <a:gdLst/>
            <a:ahLst/>
            <a:cxnLst/>
            <a:rect r="r" b="b" t="t" l="l"/>
            <a:pathLst>
              <a:path h="6000884" w="5873365">
                <a:moveTo>
                  <a:pt x="0" y="0"/>
                </a:moveTo>
                <a:lnTo>
                  <a:pt x="5873365" y="0"/>
                </a:lnTo>
                <a:lnTo>
                  <a:pt x="5873365" y="6000884"/>
                </a:lnTo>
                <a:lnTo>
                  <a:pt x="0" y="60008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aphicFrame>
        <p:nvGraphicFramePr>
          <p:cNvPr name="Table 11" id="11"/>
          <p:cNvGraphicFramePr>
            <a:graphicFrameLocks noGrp="true"/>
          </p:cNvGraphicFramePr>
          <p:nvPr/>
        </p:nvGraphicFramePr>
        <p:xfrm>
          <a:off x="1524000" y="3657600"/>
          <a:ext cx="5143500" cy="13982700"/>
        </p:xfrm>
        <a:graphic>
          <a:graphicData uri="http://schemas.openxmlformats.org/drawingml/2006/table">
            <a:tbl>
              <a:tblPr/>
              <a:tblGrid>
                <a:gridCol w="2571750"/>
                <a:gridCol w="2571750"/>
              </a:tblGrid>
              <a:tr h="725878">
                <a:tc>
                  <a:txBody>
                    <a:bodyPr anchor="t" rtlCol="false"/>
                    <a:lstStyle/>
                    <a:p>
                      <a:pPr algn="l">
                        <a:lnSpc>
                          <a:spcPts val="2100"/>
                        </a:lnSpc>
                        <a:defRPr/>
                      </a:pPr>
                      <a:r>
                        <a:rPr lang="en-US" b="true" sz="1500">
                          <a:solidFill>
                            <a:srgbClr val="FBFEFE"/>
                          </a:solidFill>
                          <a:latin typeface="Noto Sans Bold"/>
                          <a:ea typeface="Noto Sans Bold"/>
                          <a:cs typeface="Noto Sans Bold"/>
                          <a:sym typeface="Noto Sans Bold"/>
                        </a:rPr>
                        <a:t>Thuật ngữ</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b="true" sz="1500">
                          <a:solidFill>
                            <a:srgbClr val="FBFEFE"/>
                          </a:solidFill>
                          <a:latin typeface="Noto Sans Bold"/>
                          <a:ea typeface="Noto Sans Bold"/>
                          <a:cs typeface="Noto Sans Bold"/>
                          <a:sym typeface="Noto Sans Bold"/>
                        </a:rPr>
                        <a:t>Ý nghĩa</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993307">
                <a:tc>
                  <a:txBody>
                    <a:bodyPr anchor="t" rtlCol="false"/>
                    <a:lstStyle/>
                    <a:p>
                      <a:pPr algn="l">
                        <a:lnSpc>
                          <a:spcPts val="2100"/>
                        </a:lnSpc>
                        <a:defRPr/>
                      </a:pPr>
                      <a:r>
                        <a:rPr lang="en-US" sz="1500">
                          <a:solidFill>
                            <a:srgbClr val="FBFEFE"/>
                          </a:solidFill>
                          <a:latin typeface="Noto Sans"/>
                          <a:ea typeface="Noto Sans"/>
                          <a:cs typeface="Noto Sans"/>
                          <a:sym typeface="Noto Sans"/>
                        </a:rPr>
                        <a:t>Dataset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Tập dữ liệu dùng cho một nhiệm vụ</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993307">
                <a:tc>
                  <a:txBody>
                    <a:bodyPr anchor="t" rtlCol="false"/>
                    <a:lstStyle/>
                    <a:p>
                      <a:pPr algn="l">
                        <a:lnSpc>
                          <a:spcPts val="2100"/>
                        </a:lnSpc>
                        <a:defRPr/>
                      </a:pPr>
                      <a:r>
                        <a:rPr lang="en-US" sz="1500">
                          <a:solidFill>
                            <a:srgbClr val="FBFEFE"/>
                          </a:solidFill>
                          <a:latin typeface="Noto Sans"/>
                          <a:ea typeface="Noto Sans"/>
                          <a:cs typeface="Noto Sans"/>
                          <a:sym typeface="Noto Sans"/>
                        </a:rPr>
                        <a:t>Sample / Instance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Một mẫu dữ liệu, chẳng hạn một căn nhà</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993307">
                <a:tc>
                  <a:txBody>
                    <a:bodyPr anchor="t" rtlCol="false"/>
                    <a:lstStyle/>
                    <a:p>
                      <a:pPr algn="l">
                        <a:lnSpc>
                          <a:spcPts val="2100"/>
                        </a:lnSpc>
                        <a:defRPr/>
                      </a:pPr>
                      <a:r>
                        <a:rPr lang="en-US" sz="1500">
                          <a:solidFill>
                            <a:srgbClr val="FBFEFE"/>
                          </a:solidFill>
                          <a:latin typeface="Noto Sans"/>
                          <a:ea typeface="Noto Sans"/>
                          <a:cs typeface="Noto Sans"/>
                          <a:sym typeface="Noto Sans"/>
                        </a:rPr>
                        <a:t>Feature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Đặc trưng đầu vào, ví dụ diện tích nhà</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993307">
                <a:tc>
                  <a:txBody>
                    <a:bodyPr anchor="t" rtlCol="false"/>
                    <a:lstStyle/>
                    <a:p>
                      <a:pPr algn="l">
                        <a:lnSpc>
                          <a:spcPts val="2100"/>
                        </a:lnSpc>
                        <a:defRPr/>
                      </a:pPr>
                      <a:r>
                        <a:rPr lang="en-US" sz="1500">
                          <a:solidFill>
                            <a:srgbClr val="FBFEFE"/>
                          </a:solidFill>
                          <a:latin typeface="Noto Sans"/>
                          <a:ea typeface="Noto Sans"/>
                          <a:cs typeface="Noto Sans"/>
                          <a:sym typeface="Noto Sans"/>
                        </a:rPr>
                        <a:t>Label / Target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Nhãn hoặc giá trị mục tiêu cần dự đoán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993307">
                <a:tc>
                  <a:txBody>
                    <a:bodyPr anchor="t" rtlCol="false"/>
                    <a:lstStyle/>
                    <a:p>
                      <a:pPr algn="l">
                        <a:lnSpc>
                          <a:spcPts val="2100"/>
                        </a:lnSpc>
                        <a:defRPr/>
                      </a:pPr>
                      <a:r>
                        <a:rPr lang="en-US" sz="1500">
                          <a:solidFill>
                            <a:srgbClr val="FBFEFE"/>
                          </a:solidFill>
                          <a:latin typeface="Noto Sans"/>
                          <a:ea typeface="Noto Sans"/>
                          <a:cs typeface="Noto Sans"/>
                          <a:sym typeface="Noto Sans"/>
                        </a:rPr>
                        <a:t>Model</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Mô hình thực hiện dự đoán hoặc nhiệm vụ AI</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993307">
                <a:tc>
                  <a:txBody>
                    <a:bodyPr anchor="t" rtlCol="false"/>
                    <a:lstStyle/>
                    <a:p>
                      <a:pPr algn="l">
                        <a:lnSpc>
                          <a:spcPts val="2100"/>
                        </a:lnSpc>
                        <a:defRPr/>
                      </a:pPr>
                      <a:r>
                        <a:rPr lang="en-US" sz="1500">
                          <a:solidFill>
                            <a:srgbClr val="FBFEFE"/>
                          </a:solidFill>
                          <a:latin typeface="Noto Sans"/>
                          <a:ea typeface="Noto Sans"/>
                          <a:cs typeface="Noto Sans"/>
                          <a:sym typeface="Noto Sans"/>
                        </a:rPr>
                        <a:t>Algorithm</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Thuật toán, quy trình giải quyết bài toán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993307">
                <a:tc>
                  <a:txBody>
                    <a:bodyPr anchor="t" rtlCol="false"/>
                    <a:lstStyle/>
                    <a:p>
                      <a:pPr algn="l">
                        <a:lnSpc>
                          <a:spcPts val="2100"/>
                        </a:lnSpc>
                        <a:defRPr/>
                      </a:pPr>
                      <a:r>
                        <a:rPr lang="en-US" sz="1500">
                          <a:solidFill>
                            <a:srgbClr val="FBFEFE"/>
                          </a:solidFill>
                          <a:latin typeface="Noto Sans"/>
                          <a:ea typeface="Noto Sans"/>
                          <a:cs typeface="Noto Sans"/>
                          <a:sym typeface="Noto Sans"/>
                        </a:rPr>
                        <a:t>Training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Quá trình huấn luyện mô hình</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260735">
                <a:tc>
                  <a:txBody>
                    <a:bodyPr anchor="t" rtlCol="false"/>
                    <a:lstStyle/>
                    <a:p>
                      <a:pPr algn="l">
                        <a:lnSpc>
                          <a:spcPts val="2100"/>
                        </a:lnSpc>
                        <a:defRPr/>
                      </a:pPr>
                      <a:r>
                        <a:rPr lang="en-US" sz="1500">
                          <a:solidFill>
                            <a:srgbClr val="FBFEFE"/>
                          </a:solidFill>
                          <a:latin typeface="Noto Sans"/>
                          <a:ea typeface="Noto Sans"/>
                          <a:cs typeface="Noto Sans"/>
                          <a:sym typeface="Noto Sans"/>
                        </a:rPr>
                        <a:t>Inference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Quá trình sử dụng mô hình đã huấn luyện để tạo kết quả</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993307">
                <a:tc>
                  <a:txBody>
                    <a:bodyPr anchor="t" rtlCol="false"/>
                    <a:lstStyle/>
                    <a:p>
                      <a:pPr algn="l">
                        <a:lnSpc>
                          <a:spcPts val="2100"/>
                        </a:lnSpc>
                        <a:defRPr/>
                      </a:pPr>
                      <a:r>
                        <a:rPr lang="en-US" sz="1500">
                          <a:solidFill>
                            <a:srgbClr val="FBFEFE"/>
                          </a:solidFill>
                          <a:latin typeface="Noto Sans"/>
                          <a:ea typeface="Noto Sans"/>
                          <a:cs typeface="Noto Sans"/>
                          <a:sym typeface="Noto Sans"/>
                        </a:rPr>
                        <a:t>Prediction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Kết quả dự đoán của mô hình</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260735">
                <a:tc>
                  <a:txBody>
                    <a:bodyPr anchor="t" rtlCol="false"/>
                    <a:lstStyle/>
                    <a:p>
                      <a:pPr algn="l">
                        <a:lnSpc>
                          <a:spcPts val="2100"/>
                        </a:lnSpc>
                        <a:defRPr/>
                      </a:pPr>
                      <a:r>
                        <a:rPr lang="en-US" sz="1500">
                          <a:solidFill>
                            <a:srgbClr val="FBFEFE"/>
                          </a:solidFill>
                          <a:latin typeface="Noto Sans"/>
                          <a:ea typeface="Noto Sans"/>
                          <a:cs typeface="Noto Sans"/>
                          <a:sym typeface="Noto Sans"/>
                        </a:rPr>
                        <a:t>Parameter</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Giá trị nội bộ được mô hình học trong quá trình huấn luyện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528164">
                <a:tc>
                  <a:txBody>
                    <a:bodyPr anchor="t" rtlCol="false"/>
                    <a:lstStyle/>
                    <a:p>
                      <a:pPr algn="l">
                        <a:lnSpc>
                          <a:spcPts val="2100"/>
                        </a:lnSpc>
                        <a:defRPr/>
                      </a:pPr>
                      <a:r>
                        <a:rPr lang="en-US" sz="1500">
                          <a:solidFill>
                            <a:srgbClr val="FBFEFE"/>
                          </a:solidFill>
                          <a:latin typeface="Noto Sans"/>
                          <a:ea typeface="Noto Sans"/>
                          <a:cs typeface="Noto Sans"/>
                          <a:sym typeface="Noto Sans"/>
                        </a:rPr>
                        <a:t>Hyperparameter</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Giá trị cấu hình quá trình học, thường do người xây dựng lựa chọn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260735">
                <a:tc>
                  <a:txBody>
                    <a:bodyPr anchor="t" rtlCol="false"/>
                    <a:lstStyle/>
                    <a:p>
                      <a:pPr algn="l">
                        <a:lnSpc>
                          <a:spcPts val="2100"/>
                        </a:lnSpc>
                        <a:defRPr/>
                      </a:pPr>
                      <a:r>
                        <a:rPr lang="en-US" sz="1500">
                          <a:solidFill>
                            <a:srgbClr val="FBFEFE"/>
                          </a:solidFill>
                          <a:latin typeface="Noto Sans"/>
                          <a:ea typeface="Noto Sans"/>
                          <a:cs typeface="Noto Sans"/>
                          <a:sym typeface="Noto Sans"/>
                        </a:rPr>
                        <a:t>Loss Function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100"/>
                        </a:lnSpc>
                        <a:defRPr/>
                      </a:pPr>
                      <a:r>
                        <a:rPr lang="en-US" sz="1500">
                          <a:solidFill>
                            <a:srgbClr val="FBFEFE"/>
                          </a:solidFill>
                          <a:latin typeface="Noto Sans"/>
                          <a:ea typeface="Noto Sans"/>
                          <a:cs typeface="Noto Sans"/>
                          <a:sym typeface="Noto Sans"/>
                        </a:rPr>
                        <a:t>Hàm đo mức độ sai lệch giữa dự đoán và mục tiêu</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graphicFrame>
        <p:nvGraphicFramePr>
          <p:cNvPr name="Table 12" id="12"/>
          <p:cNvGraphicFramePr>
            <a:graphicFrameLocks noGrp="true"/>
          </p:cNvGraphicFramePr>
          <p:nvPr/>
        </p:nvGraphicFramePr>
        <p:xfrm>
          <a:off x="7676262" y="3657600"/>
          <a:ext cx="4495800" cy="13083042"/>
        </p:xfrm>
        <a:graphic>
          <a:graphicData uri="http://schemas.openxmlformats.org/drawingml/2006/table">
            <a:tbl>
              <a:tblPr/>
              <a:tblGrid>
                <a:gridCol w="2247900"/>
                <a:gridCol w="2247900"/>
              </a:tblGrid>
              <a:tr h="735567">
                <a:tc>
                  <a:txBody>
                    <a:bodyPr anchor="t" rtlCol="false"/>
                    <a:lstStyle/>
                    <a:p>
                      <a:pPr algn="ctr">
                        <a:lnSpc>
                          <a:spcPts val="2240"/>
                        </a:lnSpc>
                        <a:defRPr/>
                      </a:pPr>
                      <a:r>
                        <a:rPr lang="en-US" b="true" sz="1600">
                          <a:solidFill>
                            <a:srgbClr val="FBFEFE"/>
                          </a:solidFill>
                          <a:latin typeface="Noto Sans Bold"/>
                          <a:ea typeface="Noto Sans Bold"/>
                          <a:cs typeface="Noto Sans Bold"/>
                          <a:sym typeface="Noto Sans Bold"/>
                        </a:rPr>
                        <a:t>Thuật ngữ</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240"/>
                        </a:lnSpc>
                        <a:defRPr/>
                      </a:pPr>
                      <a:r>
                        <a:rPr lang="en-US" b="true" sz="1600">
                          <a:solidFill>
                            <a:srgbClr val="FBFEFE"/>
                          </a:solidFill>
                          <a:latin typeface="Noto Sans Bold"/>
                          <a:ea typeface="Noto Sans Bold"/>
                          <a:cs typeface="Noto Sans Bold"/>
                          <a:sym typeface="Noto Sans Bold"/>
                        </a:rPr>
                        <a:t>Ý nghĩa</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012599">
                <a:tc>
                  <a:txBody>
                    <a:bodyPr anchor="t" rtlCol="false"/>
                    <a:lstStyle/>
                    <a:p>
                      <a:pPr algn="l">
                        <a:lnSpc>
                          <a:spcPts val="2240"/>
                        </a:lnSpc>
                        <a:defRPr/>
                      </a:pPr>
                      <a:r>
                        <a:rPr lang="en-US" sz="1600">
                          <a:solidFill>
                            <a:srgbClr val="FBFEFE"/>
                          </a:solidFill>
                          <a:latin typeface="Noto Sans"/>
                          <a:ea typeface="Noto Sans"/>
                          <a:cs typeface="Noto Sans"/>
                          <a:sym typeface="Noto Sans"/>
                        </a:rPr>
                        <a:t>Neural Network</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Mạng lưới nơ-ron nhân tạo.</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289631">
                <a:tc>
                  <a:txBody>
                    <a:bodyPr anchor="t" rtlCol="false"/>
                    <a:lstStyle/>
                    <a:p>
                      <a:pPr algn="l">
                        <a:lnSpc>
                          <a:spcPts val="2240"/>
                        </a:lnSpc>
                        <a:defRPr/>
                      </a:pPr>
                      <a:r>
                        <a:rPr lang="en-US" sz="1600">
                          <a:solidFill>
                            <a:srgbClr val="FBFEFE"/>
                          </a:solidFill>
                          <a:latin typeface="Noto Sans"/>
                          <a:ea typeface="Noto Sans"/>
                          <a:cs typeface="Noto Sans"/>
                          <a:sym typeface="Noto Sans"/>
                        </a:rPr>
                        <a:t>Deep Learning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Học máy sử dụng mạng nơ-ron nhiều lớp</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289631">
                <a:tc>
                  <a:txBody>
                    <a:bodyPr anchor="t" rtlCol="false"/>
                    <a:lstStyle/>
                    <a:p>
                      <a:pPr algn="l">
                        <a:lnSpc>
                          <a:spcPts val="2240"/>
                        </a:lnSpc>
                        <a:defRPr/>
                      </a:pPr>
                      <a:r>
                        <a:rPr lang="en-US" sz="1600">
                          <a:solidFill>
                            <a:srgbClr val="FBFEFE"/>
                          </a:solidFill>
                          <a:latin typeface="Noto Sans"/>
                          <a:ea typeface="Noto Sans"/>
                          <a:cs typeface="Noto Sans"/>
                          <a:sym typeface="Noto Sans"/>
                        </a:rPr>
                        <a:t>Activation Function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Hàm kích hoạt trong mạng nơ-ron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012599">
                <a:tc>
                  <a:txBody>
                    <a:bodyPr anchor="t" rtlCol="false"/>
                    <a:lstStyle/>
                    <a:p>
                      <a:pPr algn="l">
                        <a:lnSpc>
                          <a:spcPts val="2240"/>
                        </a:lnSpc>
                        <a:defRPr/>
                      </a:pPr>
                      <a:r>
                        <a:rPr lang="en-US" sz="1600">
                          <a:solidFill>
                            <a:srgbClr val="FBFEFE"/>
                          </a:solidFill>
                          <a:latin typeface="Noto Sans"/>
                          <a:ea typeface="Noto Sans"/>
                          <a:cs typeface="Noto Sans"/>
                          <a:sym typeface="Noto Sans"/>
                        </a:rPr>
                        <a:t>Gradient Descent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Phương pháp tối ưu tham số </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289631">
                <a:tc>
                  <a:txBody>
                    <a:bodyPr anchor="t" rtlCol="false"/>
                    <a:lstStyle/>
                    <a:p>
                      <a:pPr algn="l">
                        <a:lnSpc>
                          <a:spcPts val="2240"/>
                        </a:lnSpc>
                        <a:defRPr/>
                      </a:pPr>
                      <a:r>
                        <a:rPr lang="en-US" sz="1600">
                          <a:solidFill>
                            <a:srgbClr val="FBFEFE"/>
                          </a:solidFill>
                          <a:latin typeface="Noto Sans"/>
                          <a:ea typeface="Noto Sans"/>
                          <a:cs typeface="Noto Sans"/>
                          <a:sym typeface="Noto Sans"/>
                        </a:rPr>
                        <a:t>Token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Đơn vị văn bản mà mô hình ngôn ngữ xử lý</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012599">
                <a:tc>
                  <a:txBody>
                    <a:bodyPr anchor="t" rtlCol="false"/>
                    <a:lstStyle/>
                    <a:p>
                      <a:pPr algn="l">
                        <a:lnSpc>
                          <a:spcPts val="2240"/>
                        </a:lnSpc>
                        <a:defRPr/>
                      </a:pPr>
                      <a:r>
                        <a:rPr lang="en-US" sz="1600">
                          <a:solidFill>
                            <a:srgbClr val="FBFEFE"/>
                          </a:solidFill>
                          <a:latin typeface="Noto Sans"/>
                          <a:ea typeface="Noto Sans"/>
                          <a:cs typeface="Noto Sans"/>
                          <a:sym typeface="Noto Sans"/>
                        </a:rPr>
                        <a:t>LLM (Large Language Model)</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Mô hình ngôn ngữ lớn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571895">
                <a:tc>
                  <a:txBody>
                    <a:bodyPr anchor="t" rtlCol="false"/>
                    <a:lstStyle/>
                    <a:p>
                      <a:pPr algn="l">
                        <a:lnSpc>
                          <a:spcPts val="2240"/>
                        </a:lnSpc>
                        <a:defRPr/>
                      </a:pPr>
                      <a:r>
                        <a:rPr lang="en-US" sz="1600">
                          <a:solidFill>
                            <a:srgbClr val="FBFEFE"/>
                          </a:solidFill>
                          <a:latin typeface="Noto Sans"/>
                          <a:ea typeface="Noto Sans"/>
                          <a:cs typeface="Noto Sans"/>
                          <a:sym typeface="Noto Sans"/>
                        </a:rPr>
                        <a:t>Backpropagation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Phương pháp tính gradient lan truyền ngược qua mạng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566662">
                <a:tc>
                  <a:txBody>
                    <a:bodyPr anchor="t" rtlCol="false"/>
                    <a:lstStyle/>
                    <a:p>
                      <a:pPr algn="l">
                        <a:lnSpc>
                          <a:spcPts val="2240"/>
                        </a:lnSpc>
                        <a:defRPr/>
                      </a:pPr>
                      <a:r>
                        <a:rPr lang="en-US" sz="1600">
                          <a:solidFill>
                            <a:srgbClr val="FBFEFE"/>
                          </a:solidFill>
                          <a:latin typeface="Noto Sans"/>
                          <a:ea typeface="Noto Sans"/>
                          <a:cs typeface="Noto Sans"/>
                          <a:sym typeface="Noto Sans"/>
                        </a:rPr>
                        <a:t>Generative AI</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AI tạo sinh nội dung mới như văn bản, ảnh hoặc âm thanh</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012599">
                <a:tc>
                  <a:txBody>
                    <a:bodyPr anchor="t" rtlCol="false"/>
                    <a:lstStyle/>
                    <a:p>
                      <a:pPr algn="l">
                        <a:lnSpc>
                          <a:spcPts val="2240"/>
                        </a:lnSpc>
                        <a:defRPr/>
                      </a:pPr>
                      <a:r>
                        <a:rPr lang="en-US" sz="1600">
                          <a:solidFill>
                            <a:srgbClr val="FBFEFE"/>
                          </a:solidFill>
                          <a:latin typeface="Noto Sans"/>
                          <a:ea typeface="Noto Sans"/>
                          <a:cs typeface="Noto Sans"/>
                          <a:sym typeface="Noto Sans"/>
                        </a:rPr>
                        <a:t>Embedding</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Biểu diễn dữ liệu thành vector số</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1289631">
                <a:tc>
                  <a:txBody>
                    <a:bodyPr anchor="t" rtlCol="false"/>
                    <a:lstStyle/>
                    <a:p>
                      <a:pPr algn="l">
                        <a:lnSpc>
                          <a:spcPts val="2240"/>
                        </a:lnSpc>
                        <a:defRPr/>
                      </a:pPr>
                      <a:r>
                        <a:rPr lang="en-US" sz="1600">
                          <a:solidFill>
                            <a:srgbClr val="FBFEFE"/>
                          </a:solidFill>
                          <a:latin typeface="Noto Sans"/>
                          <a:ea typeface="Noto Sans"/>
                          <a:cs typeface="Noto Sans"/>
                          <a:sym typeface="Noto Sans"/>
                        </a:rPr>
                        <a:t>Prompt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l">
                        <a:lnSpc>
                          <a:spcPts val="2240"/>
                        </a:lnSpc>
                        <a:defRPr/>
                      </a:pPr>
                      <a:r>
                        <a:rPr lang="en-US" sz="1600">
                          <a:solidFill>
                            <a:srgbClr val="FBFEFE"/>
                          </a:solidFill>
                          <a:latin typeface="Noto Sans"/>
                          <a:ea typeface="Noto Sans"/>
                          <a:cs typeface="Noto Sans"/>
                          <a:sym typeface="Noto Sans"/>
                        </a:rPr>
                        <a:t>Chỉ dẫn hoặc đầu vào đưa cho mô hình AI</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sp>
        <p:nvSpPr>
          <p:cNvPr name="TextBox 13" id="13"/>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4" id="14"/>
          <p:cNvSpPr txBox="true"/>
          <p:nvPr/>
        </p:nvSpPr>
        <p:spPr>
          <a:xfrm rot="0">
            <a:off x="4329618" y="719786"/>
            <a:ext cx="10976234" cy="654173"/>
          </a:xfrm>
          <a:prstGeom prst="rect">
            <a:avLst/>
          </a:prstGeom>
        </p:spPr>
        <p:txBody>
          <a:bodyPr anchor="t" rtlCol="false" tIns="0" lIns="0" bIns="0" rIns="0">
            <a:spAutoFit/>
          </a:bodyPr>
          <a:lstStyle/>
          <a:p>
            <a:pPr algn="l">
              <a:lnSpc>
                <a:spcPts val="4978"/>
              </a:lnSpc>
            </a:pPr>
            <a:r>
              <a:rPr lang="en-US" sz="4741" b="true">
                <a:solidFill>
                  <a:srgbClr val="FFFFFF"/>
                </a:solidFill>
                <a:latin typeface="TT Lakes Neue Expanded Bold"/>
                <a:ea typeface="TT Lakes Neue Expanded Bold"/>
                <a:cs typeface="TT Lakes Neue Expanded Bold"/>
                <a:sym typeface="TT Lakes Neue Expanded Bold"/>
              </a:rPr>
              <a:t>THUẬT NGỮ THƯỜNG GẶP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430107" y="8767636"/>
            <a:ext cx="7315200" cy="2433967"/>
          </a:xfrm>
          <a:custGeom>
            <a:avLst/>
            <a:gdLst/>
            <a:ahLst/>
            <a:cxnLst/>
            <a:rect r="r" b="b" t="t" l="l"/>
            <a:pathLst>
              <a:path h="2433967" w="7315200">
                <a:moveTo>
                  <a:pt x="0" y="0"/>
                </a:moveTo>
                <a:lnTo>
                  <a:pt x="7315200" y="0"/>
                </a:lnTo>
                <a:lnTo>
                  <a:pt x="7315200" y="2433966"/>
                </a:lnTo>
                <a:lnTo>
                  <a:pt x="0" y="2433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14540508" y="5987408"/>
            <a:ext cx="5081025" cy="5978571"/>
          </a:xfrm>
          <a:custGeom>
            <a:avLst/>
            <a:gdLst/>
            <a:ahLst/>
            <a:cxnLst/>
            <a:rect r="r" b="b" t="t" l="l"/>
            <a:pathLst>
              <a:path h="5978571" w="5081025">
                <a:moveTo>
                  <a:pt x="0" y="5978571"/>
                </a:moveTo>
                <a:lnTo>
                  <a:pt x="5081025" y="5978571"/>
                </a:lnTo>
                <a:lnTo>
                  <a:pt x="5081025" y="0"/>
                </a:lnTo>
                <a:lnTo>
                  <a:pt x="0" y="0"/>
                </a:lnTo>
                <a:lnTo>
                  <a:pt x="0" y="5978571"/>
                </a:lnTo>
                <a:close/>
              </a:path>
            </a:pathLst>
          </a:custGeom>
          <a:blipFill>
            <a:blip r:embed="rId6"/>
            <a:stretch>
              <a:fillRect l="0" t="0" r="0" b="0"/>
            </a:stretch>
          </a:blipFill>
        </p:spPr>
      </p:sp>
      <p:sp>
        <p:nvSpPr>
          <p:cNvPr name="Freeform 8" id="8"/>
          <p:cNvSpPr/>
          <p:nvPr/>
        </p:nvSpPr>
        <p:spPr>
          <a:xfrm flipH="false" flipV="false" rot="0">
            <a:off x="16128881" y="1028700"/>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0" id="10"/>
          <p:cNvSpPr txBox="true"/>
          <p:nvPr/>
        </p:nvSpPr>
        <p:spPr>
          <a:xfrm rot="0">
            <a:off x="3268283" y="2037957"/>
            <a:ext cx="12454599" cy="675163"/>
          </a:xfrm>
          <a:prstGeom prst="rect">
            <a:avLst/>
          </a:prstGeom>
        </p:spPr>
        <p:txBody>
          <a:bodyPr anchor="t" rtlCol="false" tIns="0" lIns="0" bIns="0" rIns="0">
            <a:spAutoFit/>
          </a:bodyPr>
          <a:lstStyle/>
          <a:p>
            <a:pPr algn="ctr">
              <a:lnSpc>
                <a:spcPts val="5188"/>
              </a:lnSpc>
            </a:pPr>
            <a:r>
              <a:rPr lang="en-US" b="true" sz="4941">
                <a:solidFill>
                  <a:srgbClr val="FFFFFF"/>
                </a:solidFill>
                <a:latin typeface="TT Lakes Neue Expanded Bold"/>
                <a:ea typeface="TT Lakes Neue Expanded Bold"/>
                <a:cs typeface="TT Lakes Neue Expanded Bold"/>
                <a:sym typeface="TT Lakes Neue Expanded Bold"/>
              </a:rPr>
              <a:t>MỘT SỐ THƯ VIỆN PHỔ BIẾN</a:t>
            </a:r>
          </a:p>
        </p:txBody>
      </p:sp>
      <p:sp>
        <p:nvSpPr>
          <p:cNvPr name="Freeform 11" id="11"/>
          <p:cNvSpPr/>
          <p:nvPr/>
        </p:nvSpPr>
        <p:spPr>
          <a:xfrm flipH="false" flipV="true" rot="0">
            <a:off x="-3709327" y="5778350"/>
            <a:ext cx="5081025" cy="5978571"/>
          </a:xfrm>
          <a:custGeom>
            <a:avLst/>
            <a:gdLst/>
            <a:ahLst/>
            <a:cxnLst/>
            <a:rect r="r" b="b" t="t" l="l"/>
            <a:pathLst>
              <a:path h="5978571" w="5081025">
                <a:moveTo>
                  <a:pt x="0" y="5978571"/>
                </a:moveTo>
                <a:lnTo>
                  <a:pt x="5081025" y="5978571"/>
                </a:lnTo>
                <a:lnTo>
                  <a:pt x="5081025" y="0"/>
                </a:lnTo>
                <a:lnTo>
                  <a:pt x="0" y="0"/>
                </a:lnTo>
                <a:lnTo>
                  <a:pt x="0" y="5978571"/>
                </a:lnTo>
                <a:close/>
              </a:path>
            </a:pathLst>
          </a:custGeom>
          <a:blipFill>
            <a:blip r:embed="rId6"/>
            <a:stretch>
              <a:fillRect l="0" t="0" r="0" b="0"/>
            </a:stretch>
          </a:blipFill>
        </p:spPr>
      </p:sp>
      <p:grpSp>
        <p:nvGrpSpPr>
          <p:cNvPr name="Group 12" id="12"/>
          <p:cNvGrpSpPr/>
          <p:nvPr/>
        </p:nvGrpSpPr>
        <p:grpSpPr>
          <a:xfrm rot="0">
            <a:off x="1371698" y="3613792"/>
            <a:ext cx="7491239" cy="4038341"/>
            <a:chOff x="0" y="0"/>
            <a:chExt cx="1973001" cy="1063596"/>
          </a:xfrm>
        </p:grpSpPr>
        <p:sp>
          <p:nvSpPr>
            <p:cNvPr name="Freeform 13" id="13"/>
            <p:cNvSpPr/>
            <p:nvPr/>
          </p:nvSpPr>
          <p:spPr>
            <a:xfrm flipH="false" flipV="false" rot="0">
              <a:off x="0" y="0"/>
              <a:ext cx="1973001" cy="1063596"/>
            </a:xfrm>
            <a:custGeom>
              <a:avLst/>
              <a:gdLst/>
              <a:ahLst/>
              <a:cxnLst/>
              <a:rect r="r" b="b" t="t" l="l"/>
              <a:pathLst>
                <a:path h="1063596" w="1973001">
                  <a:moveTo>
                    <a:pt x="25837" y="0"/>
                  </a:moveTo>
                  <a:lnTo>
                    <a:pt x="1947165" y="0"/>
                  </a:lnTo>
                  <a:cubicBezTo>
                    <a:pt x="1961434" y="0"/>
                    <a:pt x="1973001" y="11567"/>
                    <a:pt x="1973001" y="25837"/>
                  </a:cubicBezTo>
                  <a:lnTo>
                    <a:pt x="1973001" y="1037759"/>
                  </a:lnTo>
                  <a:cubicBezTo>
                    <a:pt x="1973001" y="1052029"/>
                    <a:pt x="1961434" y="1063596"/>
                    <a:pt x="1947165" y="1063596"/>
                  </a:cubicBezTo>
                  <a:lnTo>
                    <a:pt x="25837" y="1063596"/>
                  </a:lnTo>
                  <a:cubicBezTo>
                    <a:pt x="11567" y="1063596"/>
                    <a:pt x="0" y="1052029"/>
                    <a:pt x="0" y="1037759"/>
                  </a:cubicBezTo>
                  <a:lnTo>
                    <a:pt x="0" y="25837"/>
                  </a:lnTo>
                  <a:cubicBezTo>
                    <a:pt x="0" y="11567"/>
                    <a:pt x="11567" y="0"/>
                    <a:pt x="25837" y="0"/>
                  </a:cubicBezTo>
                  <a:close/>
                </a:path>
              </a:pathLst>
            </a:custGeom>
            <a:ln w="47625" cap="rnd">
              <a:solidFill>
                <a:srgbClr val="F0F7FE"/>
              </a:solidFill>
              <a:prstDash val="solid"/>
              <a:round/>
            </a:ln>
          </p:spPr>
        </p:sp>
        <p:sp>
          <p:nvSpPr>
            <p:cNvPr name="TextBox 14" id="14"/>
            <p:cNvSpPr txBox="true"/>
            <p:nvPr/>
          </p:nvSpPr>
          <p:spPr>
            <a:xfrm>
              <a:off x="0" y="28575"/>
              <a:ext cx="1973001" cy="1035021"/>
            </a:xfrm>
            <a:prstGeom prst="rect">
              <a:avLst/>
            </a:prstGeom>
          </p:spPr>
          <p:txBody>
            <a:bodyPr anchor="ctr" rtlCol="false" tIns="50800" lIns="50800" bIns="50800" rIns="50800"/>
            <a:lstStyle/>
            <a:p>
              <a:pPr algn="ctr">
                <a:lnSpc>
                  <a:spcPts val="1826"/>
                </a:lnSpc>
              </a:pPr>
            </a:p>
          </p:txBody>
        </p:sp>
      </p:grpSp>
      <p:grpSp>
        <p:nvGrpSpPr>
          <p:cNvPr name="Group 15" id="15"/>
          <p:cNvGrpSpPr/>
          <p:nvPr/>
        </p:nvGrpSpPr>
        <p:grpSpPr>
          <a:xfrm rot="0">
            <a:off x="1371698" y="3613792"/>
            <a:ext cx="1602246" cy="4038341"/>
            <a:chOff x="0" y="0"/>
            <a:chExt cx="421991" cy="1063596"/>
          </a:xfrm>
        </p:grpSpPr>
        <p:sp>
          <p:nvSpPr>
            <p:cNvPr name="Freeform 16" id="16"/>
            <p:cNvSpPr/>
            <p:nvPr/>
          </p:nvSpPr>
          <p:spPr>
            <a:xfrm flipH="false" flipV="false" rot="0">
              <a:off x="0" y="0"/>
              <a:ext cx="421991" cy="1063596"/>
            </a:xfrm>
            <a:custGeom>
              <a:avLst/>
              <a:gdLst/>
              <a:ahLst/>
              <a:cxnLst/>
              <a:rect r="r" b="b" t="t" l="l"/>
              <a:pathLst>
                <a:path h="1063596" w="421991">
                  <a:moveTo>
                    <a:pt x="120798" y="0"/>
                  </a:moveTo>
                  <a:lnTo>
                    <a:pt x="301193" y="0"/>
                  </a:lnTo>
                  <a:cubicBezTo>
                    <a:pt x="333231" y="0"/>
                    <a:pt x="363956" y="12727"/>
                    <a:pt x="386610" y="35381"/>
                  </a:cubicBezTo>
                  <a:cubicBezTo>
                    <a:pt x="409264" y="58035"/>
                    <a:pt x="421991" y="88760"/>
                    <a:pt x="421991" y="120798"/>
                  </a:cubicBezTo>
                  <a:lnTo>
                    <a:pt x="421991" y="942798"/>
                  </a:lnTo>
                  <a:cubicBezTo>
                    <a:pt x="421991" y="974836"/>
                    <a:pt x="409264" y="1005561"/>
                    <a:pt x="386610" y="1028215"/>
                  </a:cubicBezTo>
                  <a:cubicBezTo>
                    <a:pt x="363956" y="1050869"/>
                    <a:pt x="333231" y="1063596"/>
                    <a:pt x="301193" y="1063596"/>
                  </a:cubicBezTo>
                  <a:lnTo>
                    <a:pt x="120798" y="1063596"/>
                  </a:lnTo>
                  <a:cubicBezTo>
                    <a:pt x="88760" y="1063596"/>
                    <a:pt x="58035" y="1050869"/>
                    <a:pt x="35381" y="1028215"/>
                  </a:cubicBezTo>
                  <a:cubicBezTo>
                    <a:pt x="12727" y="1005561"/>
                    <a:pt x="0" y="974836"/>
                    <a:pt x="0" y="942798"/>
                  </a:cubicBezTo>
                  <a:lnTo>
                    <a:pt x="0" y="120798"/>
                  </a:lnTo>
                  <a:cubicBezTo>
                    <a:pt x="0" y="88760"/>
                    <a:pt x="12727" y="58035"/>
                    <a:pt x="35381" y="35381"/>
                  </a:cubicBezTo>
                  <a:cubicBezTo>
                    <a:pt x="58035" y="12727"/>
                    <a:pt x="88760" y="0"/>
                    <a:pt x="120798"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5400000"/>
            </a:gradFill>
            <a:ln w="47625" cap="rnd">
              <a:solidFill>
                <a:srgbClr val="F0F7FE"/>
              </a:solidFill>
              <a:prstDash val="solid"/>
              <a:round/>
            </a:ln>
          </p:spPr>
        </p:sp>
        <p:sp>
          <p:nvSpPr>
            <p:cNvPr name="TextBox 17" id="17"/>
            <p:cNvSpPr txBox="true"/>
            <p:nvPr/>
          </p:nvSpPr>
          <p:spPr>
            <a:xfrm>
              <a:off x="0" y="28575"/>
              <a:ext cx="421991" cy="1035021"/>
            </a:xfrm>
            <a:prstGeom prst="rect">
              <a:avLst/>
            </a:prstGeom>
          </p:spPr>
          <p:txBody>
            <a:bodyPr anchor="ctr" rtlCol="false" tIns="50800" lIns="50800" bIns="50800" rIns="50800"/>
            <a:lstStyle/>
            <a:p>
              <a:pPr algn="ctr">
                <a:lnSpc>
                  <a:spcPts val="1826"/>
                </a:lnSpc>
              </a:pPr>
            </a:p>
          </p:txBody>
        </p:sp>
      </p:grpSp>
      <p:sp>
        <p:nvSpPr>
          <p:cNvPr name="Freeform 18" id="18"/>
          <p:cNvSpPr/>
          <p:nvPr/>
        </p:nvSpPr>
        <p:spPr>
          <a:xfrm flipH="false" flipV="false" rot="0">
            <a:off x="2018073" y="5632963"/>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3268283" y="4895621"/>
            <a:ext cx="5162702" cy="404618"/>
          </a:xfrm>
          <a:prstGeom prst="rect">
            <a:avLst/>
          </a:prstGeom>
        </p:spPr>
        <p:txBody>
          <a:bodyPr anchor="t" rtlCol="false" tIns="0" lIns="0" bIns="0" rIns="0">
            <a:spAutoFit/>
          </a:bodyPr>
          <a:lstStyle/>
          <a:p>
            <a:pPr algn="l" marL="591522" indent="-295761" lvl="1">
              <a:lnSpc>
                <a:spcPts val="2876"/>
              </a:lnSpc>
              <a:spcBef>
                <a:spcPct val="0"/>
              </a:spcBef>
              <a:buFont typeface="Arial"/>
              <a:buChar char="•"/>
            </a:pPr>
            <a:r>
              <a:rPr lang="en-US" sz="2739" spc="93">
                <a:solidFill>
                  <a:srgbClr val="FFFFFF"/>
                </a:solidFill>
                <a:latin typeface="Poppins"/>
                <a:ea typeface="Poppins"/>
                <a:cs typeface="Poppins"/>
                <a:sym typeface="Poppins"/>
              </a:rPr>
              <a:t>Khái niệm</a:t>
            </a:r>
          </a:p>
        </p:txBody>
      </p:sp>
      <p:sp>
        <p:nvSpPr>
          <p:cNvPr name="TextBox 20" id="20"/>
          <p:cNvSpPr txBox="true"/>
          <p:nvPr/>
        </p:nvSpPr>
        <p:spPr>
          <a:xfrm rot="0">
            <a:off x="3268283" y="4203262"/>
            <a:ext cx="3038854" cy="471293"/>
          </a:xfrm>
          <a:prstGeom prst="rect">
            <a:avLst/>
          </a:prstGeom>
        </p:spPr>
        <p:txBody>
          <a:bodyPr anchor="t" rtlCol="false" tIns="0" lIns="0" bIns="0" rIns="0">
            <a:spAutoFit/>
          </a:bodyPr>
          <a:lstStyle/>
          <a:p>
            <a:pPr algn="just">
              <a:lnSpc>
                <a:spcPts val="3401"/>
              </a:lnSpc>
              <a:spcBef>
                <a:spcPct val="0"/>
              </a:spcBef>
            </a:pPr>
            <a:r>
              <a:rPr lang="en-US" b="true" sz="3239" spc="110">
                <a:solidFill>
                  <a:srgbClr val="FFFFFF"/>
                </a:solidFill>
                <a:latin typeface="Poppins Bold"/>
                <a:ea typeface="Poppins Bold"/>
                <a:cs typeface="Poppins Bold"/>
                <a:sym typeface="Poppins Bold"/>
              </a:rPr>
              <a:t>NUMPY</a:t>
            </a:r>
          </a:p>
        </p:txBody>
      </p:sp>
      <p:grpSp>
        <p:nvGrpSpPr>
          <p:cNvPr name="Group 21" id="21"/>
          <p:cNvGrpSpPr/>
          <p:nvPr/>
        </p:nvGrpSpPr>
        <p:grpSpPr>
          <a:xfrm rot="0">
            <a:off x="9589781" y="3613792"/>
            <a:ext cx="7491239" cy="4038341"/>
            <a:chOff x="0" y="0"/>
            <a:chExt cx="1973001" cy="1063596"/>
          </a:xfrm>
        </p:grpSpPr>
        <p:sp>
          <p:nvSpPr>
            <p:cNvPr name="Freeform 22" id="22"/>
            <p:cNvSpPr/>
            <p:nvPr/>
          </p:nvSpPr>
          <p:spPr>
            <a:xfrm flipH="false" flipV="false" rot="0">
              <a:off x="0" y="0"/>
              <a:ext cx="1973001" cy="1063596"/>
            </a:xfrm>
            <a:custGeom>
              <a:avLst/>
              <a:gdLst/>
              <a:ahLst/>
              <a:cxnLst/>
              <a:rect r="r" b="b" t="t" l="l"/>
              <a:pathLst>
                <a:path h="1063596" w="1973001">
                  <a:moveTo>
                    <a:pt x="25837" y="0"/>
                  </a:moveTo>
                  <a:lnTo>
                    <a:pt x="1947165" y="0"/>
                  </a:lnTo>
                  <a:cubicBezTo>
                    <a:pt x="1961434" y="0"/>
                    <a:pt x="1973001" y="11567"/>
                    <a:pt x="1973001" y="25837"/>
                  </a:cubicBezTo>
                  <a:lnTo>
                    <a:pt x="1973001" y="1037759"/>
                  </a:lnTo>
                  <a:cubicBezTo>
                    <a:pt x="1973001" y="1052029"/>
                    <a:pt x="1961434" y="1063596"/>
                    <a:pt x="1947165" y="1063596"/>
                  </a:cubicBezTo>
                  <a:lnTo>
                    <a:pt x="25837" y="1063596"/>
                  </a:lnTo>
                  <a:cubicBezTo>
                    <a:pt x="11567" y="1063596"/>
                    <a:pt x="0" y="1052029"/>
                    <a:pt x="0" y="1037759"/>
                  </a:cubicBezTo>
                  <a:lnTo>
                    <a:pt x="0" y="25837"/>
                  </a:lnTo>
                  <a:cubicBezTo>
                    <a:pt x="0" y="11567"/>
                    <a:pt x="11567" y="0"/>
                    <a:pt x="25837" y="0"/>
                  </a:cubicBezTo>
                  <a:close/>
                </a:path>
              </a:pathLst>
            </a:custGeom>
            <a:ln w="47625" cap="rnd">
              <a:solidFill>
                <a:srgbClr val="F0F7FE"/>
              </a:solidFill>
              <a:prstDash val="solid"/>
              <a:round/>
            </a:ln>
          </p:spPr>
        </p:sp>
        <p:sp>
          <p:nvSpPr>
            <p:cNvPr name="TextBox 23" id="23"/>
            <p:cNvSpPr txBox="true"/>
            <p:nvPr/>
          </p:nvSpPr>
          <p:spPr>
            <a:xfrm>
              <a:off x="0" y="28575"/>
              <a:ext cx="1973001" cy="1035021"/>
            </a:xfrm>
            <a:prstGeom prst="rect">
              <a:avLst/>
            </a:prstGeom>
          </p:spPr>
          <p:txBody>
            <a:bodyPr anchor="ctr" rtlCol="false" tIns="50800" lIns="50800" bIns="50800" rIns="50800"/>
            <a:lstStyle/>
            <a:p>
              <a:pPr algn="ctr">
                <a:lnSpc>
                  <a:spcPts val="1826"/>
                </a:lnSpc>
              </a:pPr>
            </a:p>
          </p:txBody>
        </p:sp>
      </p:grpSp>
      <p:grpSp>
        <p:nvGrpSpPr>
          <p:cNvPr name="Group 24" id="24"/>
          <p:cNvGrpSpPr/>
          <p:nvPr/>
        </p:nvGrpSpPr>
        <p:grpSpPr>
          <a:xfrm rot="0">
            <a:off x="9589781" y="3613792"/>
            <a:ext cx="1602246" cy="4038341"/>
            <a:chOff x="0" y="0"/>
            <a:chExt cx="421991" cy="1063596"/>
          </a:xfrm>
        </p:grpSpPr>
        <p:sp>
          <p:nvSpPr>
            <p:cNvPr name="Freeform 25" id="25"/>
            <p:cNvSpPr/>
            <p:nvPr/>
          </p:nvSpPr>
          <p:spPr>
            <a:xfrm flipH="false" flipV="false" rot="0">
              <a:off x="0" y="0"/>
              <a:ext cx="421991" cy="1063596"/>
            </a:xfrm>
            <a:custGeom>
              <a:avLst/>
              <a:gdLst/>
              <a:ahLst/>
              <a:cxnLst/>
              <a:rect r="r" b="b" t="t" l="l"/>
              <a:pathLst>
                <a:path h="1063596" w="421991">
                  <a:moveTo>
                    <a:pt x="120798" y="0"/>
                  </a:moveTo>
                  <a:lnTo>
                    <a:pt x="301193" y="0"/>
                  </a:lnTo>
                  <a:cubicBezTo>
                    <a:pt x="333231" y="0"/>
                    <a:pt x="363956" y="12727"/>
                    <a:pt x="386610" y="35381"/>
                  </a:cubicBezTo>
                  <a:cubicBezTo>
                    <a:pt x="409264" y="58035"/>
                    <a:pt x="421991" y="88760"/>
                    <a:pt x="421991" y="120798"/>
                  </a:cubicBezTo>
                  <a:lnTo>
                    <a:pt x="421991" y="942798"/>
                  </a:lnTo>
                  <a:cubicBezTo>
                    <a:pt x="421991" y="974836"/>
                    <a:pt x="409264" y="1005561"/>
                    <a:pt x="386610" y="1028215"/>
                  </a:cubicBezTo>
                  <a:cubicBezTo>
                    <a:pt x="363956" y="1050869"/>
                    <a:pt x="333231" y="1063596"/>
                    <a:pt x="301193" y="1063596"/>
                  </a:cubicBezTo>
                  <a:lnTo>
                    <a:pt x="120798" y="1063596"/>
                  </a:lnTo>
                  <a:cubicBezTo>
                    <a:pt x="88760" y="1063596"/>
                    <a:pt x="58035" y="1050869"/>
                    <a:pt x="35381" y="1028215"/>
                  </a:cubicBezTo>
                  <a:cubicBezTo>
                    <a:pt x="12727" y="1005561"/>
                    <a:pt x="0" y="974836"/>
                    <a:pt x="0" y="942798"/>
                  </a:cubicBezTo>
                  <a:lnTo>
                    <a:pt x="0" y="120798"/>
                  </a:lnTo>
                  <a:cubicBezTo>
                    <a:pt x="0" y="88760"/>
                    <a:pt x="12727" y="58035"/>
                    <a:pt x="35381" y="35381"/>
                  </a:cubicBezTo>
                  <a:cubicBezTo>
                    <a:pt x="58035" y="12727"/>
                    <a:pt x="88760" y="0"/>
                    <a:pt x="120798"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5400000"/>
            </a:gradFill>
            <a:ln w="47625" cap="rnd">
              <a:solidFill>
                <a:srgbClr val="F0F7FE"/>
              </a:solidFill>
              <a:prstDash val="solid"/>
              <a:round/>
            </a:ln>
          </p:spPr>
        </p:sp>
        <p:sp>
          <p:nvSpPr>
            <p:cNvPr name="TextBox 26" id="26"/>
            <p:cNvSpPr txBox="true"/>
            <p:nvPr/>
          </p:nvSpPr>
          <p:spPr>
            <a:xfrm>
              <a:off x="0" y="28575"/>
              <a:ext cx="421991" cy="1035021"/>
            </a:xfrm>
            <a:prstGeom prst="rect">
              <a:avLst/>
            </a:prstGeom>
          </p:spPr>
          <p:txBody>
            <a:bodyPr anchor="ctr" rtlCol="false" tIns="50800" lIns="50800" bIns="50800" rIns="50800"/>
            <a:lstStyle/>
            <a:p>
              <a:pPr algn="ctr">
                <a:lnSpc>
                  <a:spcPts val="1826"/>
                </a:lnSpc>
              </a:pPr>
            </a:p>
          </p:txBody>
        </p:sp>
      </p:grpSp>
      <p:sp>
        <p:nvSpPr>
          <p:cNvPr name="Freeform 27" id="27"/>
          <p:cNvSpPr/>
          <p:nvPr/>
        </p:nvSpPr>
        <p:spPr>
          <a:xfrm flipH="false" flipV="false" rot="0">
            <a:off x="10236157" y="5632963"/>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8" id="28"/>
          <p:cNvSpPr txBox="true"/>
          <p:nvPr/>
        </p:nvSpPr>
        <p:spPr>
          <a:xfrm rot="0">
            <a:off x="3268283" y="5519314"/>
            <a:ext cx="5162702" cy="766568"/>
          </a:xfrm>
          <a:prstGeom prst="rect">
            <a:avLst/>
          </a:prstGeom>
        </p:spPr>
        <p:txBody>
          <a:bodyPr anchor="t" rtlCol="false" tIns="0" lIns="0" bIns="0" rIns="0">
            <a:spAutoFit/>
          </a:bodyPr>
          <a:lstStyle/>
          <a:p>
            <a:pPr algn="l" marL="591522" indent="-295761" lvl="1">
              <a:lnSpc>
                <a:spcPts val="2876"/>
              </a:lnSpc>
              <a:spcBef>
                <a:spcPct val="0"/>
              </a:spcBef>
              <a:buFont typeface="Arial"/>
              <a:buChar char="•"/>
            </a:pPr>
            <a:r>
              <a:rPr lang="en-US" sz="2739" spc="93">
                <a:solidFill>
                  <a:srgbClr val="FFFFFF"/>
                </a:solidFill>
                <a:latin typeface="Poppins"/>
                <a:ea typeface="Poppins"/>
                <a:cs typeface="Poppins"/>
                <a:sym typeface="Poppins"/>
              </a:rPr>
              <a:t>Thời gian ra đời: Năm 2005</a:t>
            </a:r>
          </a:p>
        </p:txBody>
      </p:sp>
      <p:sp>
        <p:nvSpPr>
          <p:cNvPr name="TextBox 29" id="29"/>
          <p:cNvSpPr txBox="true"/>
          <p:nvPr/>
        </p:nvSpPr>
        <p:spPr>
          <a:xfrm rot="0">
            <a:off x="3268283" y="6504958"/>
            <a:ext cx="5162702" cy="766568"/>
          </a:xfrm>
          <a:prstGeom prst="rect">
            <a:avLst/>
          </a:prstGeom>
        </p:spPr>
        <p:txBody>
          <a:bodyPr anchor="t" rtlCol="false" tIns="0" lIns="0" bIns="0" rIns="0">
            <a:spAutoFit/>
          </a:bodyPr>
          <a:lstStyle/>
          <a:p>
            <a:pPr algn="l" marL="591522" indent="-295761" lvl="1">
              <a:lnSpc>
                <a:spcPts val="2876"/>
              </a:lnSpc>
              <a:spcBef>
                <a:spcPct val="0"/>
              </a:spcBef>
              <a:buFont typeface="Arial"/>
              <a:buChar char="•"/>
            </a:pPr>
            <a:r>
              <a:rPr lang="en-US" sz="2739" spc="93">
                <a:solidFill>
                  <a:srgbClr val="FFFFFF"/>
                </a:solidFill>
                <a:latin typeface="Poppins"/>
                <a:ea typeface="Poppins"/>
                <a:cs typeface="Poppins"/>
                <a:sym typeface="Poppins"/>
              </a:rPr>
              <a:t>Người khởi xướng chính: Travis Oliphant</a:t>
            </a:r>
          </a:p>
        </p:txBody>
      </p:sp>
      <p:sp>
        <p:nvSpPr>
          <p:cNvPr name="TextBox 30" id="30"/>
          <p:cNvSpPr txBox="true"/>
          <p:nvPr/>
        </p:nvSpPr>
        <p:spPr>
          <a:xfrm rot="0">
            <a:off x="11487303" y="3945600"/>
            <a:ext cx="5162702" cy="2214368"/>
          </a:xfrm>
          <a:prstGeom prst="rect">
            <a:avLst/>
          </a:prstGeom>
        </p:spPr>
        <p:txBody>
          <a:bodyPr anchor="t" rtlCol="false" tIns="0" lIns="0" bIns="0" rIns="0">
            <a:spAutoFit/>
          </a:bodyPr>
          <a:lstStyle/>
          <a:p>
            <a:pPr algn="l" marL="591522" indent="-295761" lvl="1">
              <a:lnSpc>
                <a:spcPts val="2876"/>
              </a:lnSpc>
              <a:spcBef>
                <a:spcPct val="0"/>
              </a:spcBef>
              <a:buFont typeface="Arial"/>
              <a:buChar char="•"/>
            </a:pPr>
            <a:r>
              <a:rPr lang="en-US" sz="2739" spc="93">
                <a:solidFill>
                  <a:srgbClr val="FFFFFF"/>
                </a:solidFill>
                <a:latin typeface="Poppins"/>
                <a:ea typeface="Poppins"/>
                <a:cs typeface="Poppins"/>
                <a:sym typeface="Poppins"/>
              </a:rPr>
              <a:t>Nguồn gốc: NumPy được phát triển từ Numeric và Numarray, những thư viện mảng trước đó trong hệ sinh thái Python</a:t>
            </a:r>
          </a:p>
        </p:txBody>
      </p:sp>
      <p:sp>
        <p:nvSpPr>
          <p:cNvPr name="TextBox 31" id="31"/>
          <p:cNvSpPr txBox="true"/>
          <p:nvPr/>
        </p:nvSpPr>
        <p:spPr>
          <a:xfrm rot="0">
            <a:off x="11487303" y="6478861"/>
            <a:ext cx="5162702" cy="404618"/>
          </a:xfrm>
          <a:prstGeom prst="rect">
            <a:avLst/>
          </a:prstGeom>
        </p:spPr>
        <p:txBody>
          <a:bodyPr anchor="t" rtlCol="false" tIns="0" lIns="0" bIns="0" rIns="0">
            <a:spAutoFit/>
          </a:bodyPr>
          <a:lstStyle/>
          <a:p>
            <a:pPr algn="l" marL="591522" indent="-295761" lvl="1">
              <a:lnSpc>
                <a:spcPts val="2876"/>
              </a:lnSpc>
              <a:spcBef>
                <a:spcPct val="0"/>
              </a:spcBef>
              <a:buFont typeface="Arial"/>
              <a:buChar char="•"/>
            </a:pPr>
            <a:r>
              <a:rPr lang="en-US" sz="2739" spc="93">
                <a:solidFill>
                  <a:srgbClr val="FFFFFF"/>
                </a:solidFill>
                <a:latin typeface="Poppins"/>
                <a:ea typeface="Poppins"/>
                <a:cs typeface="Poppins"/>
                <a:sym typeface="Poppins"/>
              </a:rPr>
              <a:t>Ưu và nhược điểm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930173" y="4780055"/>
            <a:ext cx="6296641" cy="6636775"/>
          </a:xfrm>
          <a:custGeom>
            <a:avLst/>
            <a:gdLst/>
            <a:ahLst/>
            <a:cxnLst/>
            <a:rect r="r" b="b" t="t" l="l"/>
            <a:pathLst>
              <a:path h="6636775" w="6296641">
                <a:moveTo>
                  <a:pt x="0" y="0"/>
                </a:moveTo>
                <a:lnTo>
                  <a:pt x="6296640" y="0"/>
                </a:lnTo>
                <a:lnTo>
                  <a:pt x="6296640" y="6636775"/>
                </a:lnTo>
                <a:lnTo>
                  <a:pt x="0" y="6636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40055" y="9304465"/>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365251" y="2496842"/>
            <a:ext cx="1602246" cy="5601601"/>
            <a:chOff x="0" y="0"/>
            <a:chExt cx="421991" cy="1475319"/>
          </a:xfrm>
        </p:grpSpPr>
        <p:sp>
          <p:nvSpPr>
            <p:cNvPr name="Freeform 9" id="9"/>
            <p:cNvSpPr/>
            <p:nvPr/>
          </p:nvSpPr>
          <p:spPr>
            <a:xfrm flipH="false" flipV="false" rot="0">
              <a:off x="0" y="0"/>
              <a:ext cx="421991" cy="1475319"/>
            </a:xfrm>
            <a:custGeom>
              <a:avLst/>
              <a:gdLst/>
              <a:ahLst/>
              <a:cxnLst/>
              <a:rect r="r" b="b" t="t" l="l"/>
              <a:pathLst>
                <a:path h="1475319" w="421991">
                  <a:moveTo>
                    <a:pt x="120798" y="0"/>
                  </a:moveTo>
                  <a:lnTo>
                    <a:pt x="301193" y="0"/>
                  </a:lnTo>
                  <a:cubicBezTo>
                    <a:pt x="333231" y="0"/>
                    <a:pt x="363956" y="12727"/>
                    <a:pt x="386610" y="35381"/>
                  </a:cubicBezTo>
                  <a:cubicBezTo>
                    <a:pt x="409264" y="58035"/>
                    <a:pt x="421991" y="88760"/>
                    <a:pt x="421991" y="120798"/>
                  </a:cubicBezTo>
                  <a:lnTo>
                    <a:pt x="421991" y="1354521"/>
                  </a:lnTo>
                  <a:cubicBezTo>
                    <a:pt x="421991" y="1386559"/>
                    <a:pt x="409264" y="1417284"/>
                    <a:pt x="386610" y="1439938"/>
                  </a:cubicBezTo>
                  <a:cubicBezTo>
                    <a:pt x="363956" y="1462592"/>
                    <a:pt x="333231" y="1475319"/>
                    <a:pt x="301193" y="1475319"/>
                  </a:cubicBezTo>
                  <a:lnTo>
                    <a:pt x="120798" y="1475319"/>
                  </a:lnTo>
                  <a:cubicBezTo>
                    <a:pt x="88760" y="1475319"/>
                    <a:pt x="58035" y="1462592"/>
                    <a:pt x="35381" y="1439938"/>
                  </a:cubicBezTo>
                  <a:cubicBezTo>
                    <a:pt x="12727" y="1417284"/>
                    <a:pt x="0" y="1386559"/>
                    <a:pt x="0" y="1354521"/>
                  </a:cubicBezTo>
                  <a:lnTo>
                    <a:pt x="0" y="120798"/>
                  </a:lnTo>
                  <a:cubicBezTo>
                    <a:pt x="0" y="88760"/>
                    <a:pt x="12727" y="58035"/>
                    <a:pt x="35381" y="35381"/>
                  </a:cubicBezTo>
                  <a:cubicBezTo>
                    <a:pt x="58035" y="12727"/>
                    <a:pt x="88760" y="0"/>
                    <a:pt x="120798"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5400000"/>
            </a:gradFill>
            <a:ln w="47625" cap="rnd">
              <a:solidFill>
                <a:srgbClr val="F0F7FE"/>
              </a:solidFill>
              <a:prstDash val="solid"/>
              <a:round/>
            </a:ln>
          </p:spPr>
        </p:sp>
        <p:sp>
          <p:nvSpPr>
            <p:cNvPr name="TextBox 10" id="10"/>
            <p:cNvSpPr txBox="true"/>
            <p:nvPr/>
          </p:nvSpPr>
          <p:spPr>
            <a:xfrm>
              <a:off x="0" y="28575"/>
              <a:ext cx="421991" cy="1446744"/>
            </a:xfrm>
            <a:prstGeom prst="rect">
              <a:avLst/>
            </a:prstGeom>
          </p:spPr>
          <p:txBody>
            <a:bodyPr anchor="ctr" rtlCol="false" tIns="50800" lIns="50800" bIns="50800" rIns="50800"/>
            <a:lstStyle/>
            <a:p>
              <a:pPr algn="ctr">
                <a:lnSpc>
                  <a:spcPts val="1826"/>
                </a:lnSpc>
              </a:pPr>
            </a:p>
          </p:txBody>
        </p:sp>
      </p:grpSp>
      <p:sp>
        <p:nvSpPr>
          <p:cNvPr name="Freeform 11" id="11"/>
          <p:cNvSpPr/>
          <p:nvPr/>
        </p:nvSpPr>
        <p:spPr>
          <a:xfrm flipH="false" flipV="false" rot="0">
            <a:off x="281124" y="4879997"/>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712966" y="2849047"/>
            <a:ext cx="7374740" cy="654173"/>
          </a:xfrm>
          <a:prstGeom prst="rect">
            <a:avLst/>
          </a:prstGeom>
        </p:spPr>
        <p:txBody>
          <a:bodyPr anchor="t" rtlCol="false" tIns="0" lIns="0" bIns="0" rIns="0">
            <a:spAutoFit/>
          </a:bodyPr>
          <a:lstStyle/>
          <a:p>
            <a:pPr algn="l">
              <a:lnSpc>
                <a:spcPts val="4978"/>
              </a:lnSpc>
            </a:pPr>
            <a:r>
              <a:rPr lang="en-US" sz="4741" b="true">
                <a:solidFill>
                  <a:srgbClr val="FFFFFF"/>
                </a:solidFill>
                <a:latin typeface="TT Lakes Neue Expanded Bold"/>
                <a:ea typeface="TT Lakes Neue Expanded Bold"/>
                <a:cs typeface="TT Lakes Neue Expanded Bold"/>
                <a:sym typeface="TT Lakes Neue Expanded Bold"/>
              </a:rPr>
              <a:t>PANDAS</a:t>
            </a:r>
          </a:p>
        </p:txBody>
      </p:sp>
      <p:grpSp>
        <p:nvGrpSpPr>
          <p:cNvPr name="Group 13" id="13"/>
          <p:cNvGrpSpPr/>
          <p:nvPr/>
        </p:nvGrpSpPr>
        <p:grpSpPr>
          <a:xfrm rot="0">
            <a:off x="8913487" y="1543050"/>
            <a:ext cx="9504204" cy="3089858"/>
            <a:chOff x="0" y="0"/>
            <a:chExt cx="2503165" cy="813790"/>
          </a:xfrm>
        </p:grpSpPr>
        <p:sp>
          <p:nvSpPr>
            <p:cNvPr name="Freeform 14" id="14"/>
            <p:cNvSpPr/>
            <p:nvPr/>
          </p:nvSpPr>
          <p:spPr>
            <a:xfrm flipH="false" flipV="false" rot="0">
              <a:off x="0" y="0"/>
              <a:ext cx="2503165" cy="813790"/>
            </a:xfrm>
            <a:custGeom>
              <a:avLst/>
              <a:gdLst/>
              <a:ahLst/>
              <a:cxnLst/>
              <a:rect r="r" b="b" t="t" l="l"/>
              <a:pathLst>
                <a:path h="813790" w="2503165">
                  <a:moveTo>
                    <a:pt x="20364" y="0"/>
                  </a:moveTo>
                  <a:lnTo>
                    <a:pt x="2482800" y="0"/>
                  </a:lnTo>
                  <a:cubicBezTo>
                    <a:pt x="2488201" y="0"/>
                    <a:pt x="2493381" y="2146"/>
                    <a:pt x="2497200" y="5965"/>
                  </a:cubicBezTo>
                  <a:cubicBezTo>
                    <a:pt x="2501019" y="9784"/>
                    <a:pt x="2503165" y="14963"/>
                    <a:pt x="2503165" y="20364"/>
                  </a:cubicBezTo>
                  <a:lnTo>
                    <a:pt x="2503165" y="793425"/>
                  </a:lnTo>
                  <a:cubicBezTo>
                    <a:pt x="2503165" y="804672"/>
                    <a:pt x="2494047" y="813790"/>
                    <a:pt x="2482800" y="813790"/>
                  </a:cubicBezTo>
                  <a:lnTo>
                    <a:pt x="20364" y="813790"/>
                  </a:lnTo>
                  <a:cubicBezTo>
                    <a:pt x="9117" y="813790"/>
                    <a:pt x="0" y="804672"/>
                    <a:pt x="0" y="793425"/>
                  </a:cubicBezTo>
                  <a:lnTo>
                    <a:pt x="0" y="20364"/>
                  </a:lnTo>
                  <a:cubicBezTo>
                    <a:pt x="0" y="9117"/>
                    <a:pt x="9117" y="0"/>
                    <a:pt x="2036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5400000"/>
            </a:gradFill>
            <a:ln w="47625" cap="rnd">
              <a:solidFill>
                <a:srgbClr val="F0F7FE"/>
              </a:solidFill>
              <a:prstDash val="solid"/>
              <a:round/>
            </a:ln>
          </p:spPr>
        </p:sp>
        <p:sp>
          <p:nvSpPr>
            <p:cNvPr name="TextBox 15" id="15"/>
            <p:cNvSpPr txBox="true"/>
            <p:nvPr/>
          </p:nvSpPr>
          <p:spPr>
            <a:xfrm>
              <a:off x="0" y="28575"/>
              <a:ext cx="2503165" cy="785215"/>
            </a:xfrm>
            <a:prstGeom prst="rect">
              <a:avLst/>
            </a:prstGeom>
          </p:spPr>
          <p:txBody>
            <a:bodyPr anchor="ctr" rtlCol="false" tIns="50800" lIns="50800" bIns="50800" rIns="50800"/>
            <a:lstStyle/>
            <a:p>
              <a:pPr algn="ctr">
                <a:lnSpc>
                  <a:spcPts val="1826"/>
                </a:lnSpc>
              </a:pPr>
            </a:p>
          </p:txBody>
        </p:sp>
      </p:grpSp>
      <p:sp>
        <p:nvSpPr>
          <p:cNvPr name="Freeform 16" id="16"/>
          <p:cNvSpPr/>
          <p:nvPr/>
        </p:nvSpPr>
        <p:spPr>
          <a:xfrm flipH="false" flipV="false" rot="0">
            <a:off x="17259300" y="2931051"/>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8" id="18"/>
          <p:cNvSpPr txBox="true"/>
          <p:nvPr/>
        </p:nvSpPr>
        <p:spPr>
          <a:xfrm rot="0">
            <a:off x="1720871" y="4616596"/>
            <a:ext cx="6564345" cy="251904"/>
          </a:xfrm>
          <a:prstGeom prst="rect">
            <a:avLst/>
          </a:prstGeom>
        </p:spPr>
        <p:txBody>
          <a:bodyPr anchor="t" rtlCol="false" tIns="0" lIns="0" bIns="0" rIns="0">
            <a:spAutoFit/>
          </a:bodyPr>
          <a:lstStyle/>
          <a:p>
            <a:pPr algn="just">
              <a:lnSpc>
                <a:spcPts val="1824"/>
              </a:lnSpc>
              <a:spcBef>
                <a:spcPct val="0"/>
              </a:spcBef>
            </a:pPr>
          </a:p>
        </p:txBody>
      </p:sp>
      <p:sp>
        <p:nvSpPr>
          <p:cNvPr name="TextBox 19" id="19"/>
          <p:cNvSpPr txBox="true"/>
          <p:nvPr/>
        </p:nvSpPr>
        <p:spPr>
          <a:xfrm rot="0">
            <a:off x="1658876" y="3879153"/>
            <a:ext cx="6337661" cy="416048"/>
          </a:xfrm>
          <a:prstGeom prst="rect">
            <a:avLst/>
          </a:prstGeom>
        </p:spPr>
        <p:txBody>
          <a:bodyPr anchor="t" rtlCol="false" tIns="0" lIns="0" bIns="0" rIns="0">
            <a:spAutoFit/>
          </a:bodyPr>
          <a:lstStyle/>
          <a:p>
            <a:pPr algn="l" marL="613111" indent="-306556" lvl="1">
              <a:lnSpc>
                <a:spcPts val="2981"/>
              </a:lnSpc>
              <a:spcBef>
                <a:spcPct val="0"/>
              </a:spcBef>
              <a:buFont typeface="Arial"/>
              <a:buChar char="•"/>
            </a:pPr>
            <a:r>
              <a:rPr lang="en-US" sz="2839" spc="96">
                <a:solidFill>
                  <a:srgbClr val="FFFFFF"/>
                </a:solidFill>
                <a:latin typeface="Poppins"/>
                <a:ea typeface="Poppins"/>
                <a:cs typeface="Poppins"/>
                <a:sym typeface="Poppins"/>
              </a:rPr>
              <a:t>Khái niệm</a:t>
            </a:r>
          </a:p>
        </p:txBody>
      </p:sp>
      <p:sp>
        <p:nvSpPr>
          <p:cNvPr name="TextBox 20" id="20"/>
          <p:cNvSpPr txBox="true"/>
          <p:nvPr/>
        </p:nvSpPr>
        <p:spPr>
          <a:xfrm rot="0">
            <a:off x="1658876" y="4616596"/>
            <a:ext cx="6337661" cy="1530473"/>
          </a:xfrm>
          <a:prstGeom prst="rect">
            <a:avLst/>
          </a:prstGeom>
        </p:spPr>
        <p:txBody>
          <a:bodyPr anchor="t" rtlCol="false" tIns="0" lIns="0" bIns="0" rIns="0">
            <a:spAutoFit/>
          </a:bodyPr>
          <a:lstStyle/>
          <a:p>
            <a:pPr algn="l" marL="613111" indent="-306556" lvl="1">
              <a:lnSpc>
                <a:spcPts val="2981"/>
              </a:lnSpc>
              <a:spcBef>
                <a:spcPct val="0"/>
              </a:spcBef>
              <a:buFont typeface="Arial"/>
              <a:buChar char="•"/>
            </a:pPr>
            <a:r>
              <a:rPr lang="en-US" sz="2839" spc="96">
                <a:solidFill>
                  <a:srgbClr val="FFFFFF"/>
                </a:solidFill>
                <a:latin typeface="Poppins"/>
                <a:ea typeface="Poppins"/>
                <a:cs typeface="Poppins"/>
                <a:sym typeface="Poppins"/>
              </a:rPr>
              <a:t>Ra đời: Pandas được phát triển từ năm 2008 và phát hành mã nguồn mở vào năm 2009</a:t>
            </a:r>
          </a:p>
        </p:txBody>
      </p:sp>
      <p:sp>
        <p:nvSpPr>
          <p:cNvPr name="TextBox 21" id="21"/>
          <p:cNvSpPr txBox="true"/>
          <p:nvPr/>
        </p:nvSpPr>
        <p:spPr>
          <a:xfrm rot="0">
            <a:off x="1658876" y="6410834"/>
            <a:ext cx="6337661" cy="787523"/>
          </a:xfrm>
          <a:prstGeom prst="rect">
            <a:avLst/>
          </a:prstGeom>
        </p:spPr>
        <p:txBody>
          <a:bodyPr anchor="t" rtlCol="false" tIns="0" lIns="0" bIns="0" rIns="0">
            <a:spAutoFit/>
          </a:bodyPr>
          <a:lstStyle/>
          <a:p>
            <a:pPr algn="l" marL="613111" indent="-306556" lvl="1">
              <a:lnSpc>
                <a:spcPts val="2981"/>
              </a:lnSpc>
              <a:spcBef>
                <a:spcPct val="0"/>
              </a:spcBef>
              <a:buFont typeface="Arial"/>
              <a:buChar char="•"/>
            </a:pPr>
            <a:r>
              <a:rPr lang="en-US" sz="2839" spc="96">
                <a:solidFill>
                  <a:srgbClr val="FFFFFF"/>
                </a:solidFill>
                <a:latin typeface="Poppins"/>
                <a:ea typeface="Poppins"/>
                <a:cs typeface="Poppins"/>
                <a:sym typeface="Poppins"/>
              </a:rPr>
              <a:t>Người sáng lập: Wes MCKinney.</a:t>
            </a:r>
          </a:p>
        </p:txBody>
      </p:sp>
      <p:sp>
        <p:nvSpPr>
          <p:cNvPr name="TextBox 22" id="22"/>
          <p:cNvSpPr txBox="true"/>
          <p:nvPr/>
        </p:nvSpPr>
        <p:spPr>
          <a:xfrm rot="0">
            <a:off x="9100652" y="1876289"/>
            <a:ext cx="8934645" cy="1158998"/>
          </a:xfrm>
          <a:prstGeom prst="rect">
            <a:avLst/>
          </a:prstGeom>
        </p:spPr>
        <p:txBody>
          <a:bodyPr anchor="t" rtlCol="false" tIns="0" lIns="0" bIns="0" rIns="0">
            <a:spAutoFit/>
          </a:bodyPr>
          <a:lstStyle/>
          <a:p>
            <a:pPr algn="l" marL="613111" indent="-306556" lvl="1">
              <a:lnSpc>
                <a:spcPts val="2981"/>
              </a:lnSpc>
              <a:spcBef>
                <a:spcPct val="0"/>
              </a:spcBef>
              <a:buFont typeface="Arial"/>
              <a:buChar char="•"/>
            </a:pPr>
            <a:r>
              <a:rPr lang="en-US" sz="2839" spc="96">
                <a:solidFill>
                  <a:srgbClr val="FFFFFF"/>
                </a:solidFill>
                <a:latin typeface="Poppins"/>
                <a:ea typeface="Poppins"/>
                <a:cs typeface="Poppins"/>
                <a:sym typeface="Poppins"/>
              </a:rPr>
              <a:t>Bối cảnh: Ban đầu, Pandas được phát triển để phục vụ việc phân tích dữ liệu tài chính và chuỗi thời gian. </a:t>
            </a:r>
          </a:p>
        </p:txBody>
      </p:sp>
      <p:sp>
        <p:nvSpPr>
          <p:cNvPr name="TextBox 23" id="23"/>
          <p:cNvSpPr txBox="true"/>
          <p:nvPr/>
        </p:nvSpPr>
        <p:spPr>
          <a:xfrm rot="0">
            <a:off x="9100652" y="3136203"/>
            <a:ext cx="8934645" cy="416048"/>
          </a:xfrm>
          <a:prstGeom prst="rect">
            <a:avLst/>
          </a:prstGeom>
        </p:spPr>
        <p:txBody>
          <a:bodyPr anchor="t" rtlCol="false" tIns="0" lIns="0" bIns="0" rIns="0">
            <a:spAutoFit/>
          </a:bodyPr>
          <a:lstStyle/>
          <a:p>
            <a:pPr algn="l" marL="613111" indent="-306556" lvl="1">
              <a:lnSpc>
                <a:spcPts val="2981"/>
              </a:lnSpc>
              <a:spcBef>
                <a:spcPct val="0"/>
              </a:spcBef>
              <a:buFont typeface="Arial"/>
              <a:buChar char="•"/>
            </a:pPr>
            <a:r>
              <a:rPr lang="en-US" sz="2839" spc="96">
                <a:solidFill>
                  <a:srgbClr val="FFFFFF"/>
                </a:solidFill>
                <a:latin typeface="Poppins"/>
                <a:ea typeface="Poppins"/>
                <a:cs typeface="Poppins"/>
                <a:sym typeface="Poppins"/>
              </a:rPr>
              <a:t>Ưu và nhược điểm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71698" y="1908301"/>
            <a:ext cx="7038945" cy="12136111"/>
          </a:xfrm>
          <a:custGeom>
            <a:avLst/>
            <a:gdLst/>
            <a:ahLst/>
            <a:cxnLst/>
            <a:rect r="r" b="b" t="t" l="l"/>
            <a:pathLst>
              <a:path h="12136111" w="7038945">
                <a:moveTo>
                  <a:pt x="0" y="0"/>
                </a:moveTo>
                <a:lnTo>
                  <a:pt x="7038945" y="0"/>
                </a:lnTo>
                <a:lnTo>
                  <a:pt x="7038945" y="12136112"/>
                </a:lnTo>
                <a:lnTo>
                  <a:pt x="0" y="121361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265131" y="8295864"/>
            <a:ext cx="549282" cy="549282"/>
          </a:xfrm>
          <a:custGeom>
            <a:avLst/>
            <a:gdLst/>
            <a:ahLst/>
            <a:cxnLst/>
            <a:rect r="r" b="b" t="t" l="l"/>
            <a:pathLst>
              <a:path h="549282" w="549282">
                <a:moveTo>
                  <a:pt x="0" y="0"/>
                </a:moveTo>
                <a:lnTo>
                  <a:pt x="549282" y="0"/>
                </a:lnTo>
                <a:lnTo>
                  <a:pt x="549282" y="549283"/>
                </a:lnTo>
                <a:lnTo>
                  <a:pt x="0" y="549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81752" y="3880237"/>
            <a:ext cx="3428494" cy="8571235"/>
          </a:xfrm>
          <a:custGeom>
            <a:avLst/>
            <a:gdLst/>
            <a:ahLst/>
            <a:cxnLst/>
            <a:rect r="r" b="b" t="t" l="l"/>
            <a:pathLst>
              <a:path h="8571235" w="3428494">
                <a:moveTo>
                  <a:pt x="0" y="0"/>
                </a:moveTo>
                <a:lnTo>
                  <a:pt x="3428494" y="0"/>
                </a:lnTo>
                <a:lnTo>
                  <a:pt x="3428494" y="8571236"/>
                </a:lnTo>
                <a:lnTo>
                  <a:pt x="0" y="85712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210719" y="6292977"/>
            <a:ext cx="3342065" cy="2965323"/>
          </a:xfrm>
          <a:custGeom>
            <a:avLst/>
            <a:gdLst/>
            <a:ahLst/>
            <a:cxnLst/>
            <a:rect r="r" b="b" t="t" l="l"/>
            <a:pathLst>
              <a:path h="2965323" w="3342065">
                <a:moveTo>
                  <a:pt x="0" y="0"/>
                </a:moveTo>
                <a:lnTo>
                  <a:pt x="3342066" y="0"/>
                </a:lnTo>
                <a:lnTo>
                  <a:pt x="3342066" y="2965323"/>
                </a:lnTo>
                <a:lnTo>
                  <a:pt x="0" y="29653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303391" y="5653039"/>
            <a:ext cx="3342065" cy="2965323"/>
          </a:xfrm>
          <a:custGeom>
            <a:avLst/>
            <a:gdLst/>
            <a:ahLst/>
            <a:cxnLst/>
            <a:rect r="r" b="b" t="t" l="l"/>
            <a:pathLst>
              <a:path h="2965323" w="3342065">
                <a:moveTo>
                  <a:pt x="0" y="0"/>
                </a:moveTo>
                <a:lnTo>
                  <a:pt x="3342065" y="0"/>
                </a:lnTo>
                <a:lnTo>
                  <a:pt x="3342065" y="2965324"/>
                </a:lnTo>
                <a:lnTo>
                  <a:pt x="0" y="29653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9144000" y="2595545"/>
            <a:ext cx="6916989" cy="654173"/>
          </a:xfrm>
          <a:prstGeom prst="rect">
            <a:avLst/>
          </a:prstGeom>
        </p:spPr>
        <p:txBody>
          <a:bodyPr anchor="t" rtlCol="false" tIns="0" lIns="0" bIns="0" rIns="0">
            <a:spAutoFit/>
          </a:bodyPr>
          <a:lstStyle/>
          <a:p>
            <a:pPr algn="l">
              <a:lnSpc>
                <a:spcPts val="4978"/>
              </a:lnSpc>
            </a:pPr>
            <a:r>
              <a:rPr lang="en-US" sz="4741" b="true">
                <a:solidFill>
                  <a:srgbClr val="FFFFFF"/>
                </a:solidFill>
                <a:latin typeface="TT Lakes Neue Expanded Bold"/>
                <a:ea typeface="TT Lakes Neue Expanded Bold"/>
                <a:cs typeface="TT Lakes Neue Expanded Bold"/>
                <a:sym typeface="TT Lakes Neue Expanded Bold"/>
              </a:rPr>
              <a:t>MATPLOTHIB</a:t>
            </a:r>
          </a:p>
        </p:txBody>
      </p:sp>
      <p:sp>
        <p:nvSpPr>
          <p:cNvPr name="TextBox 12" id="12"/>
          <p:cNvSpPr txBox="true"/>
          <p:nvPr/>
        </p:nvSpPr>
        <p:spPr>
          <a:xfrm rot="0">
            <a:off x="9087707" y="3637544"/>
            <a:ext cx="7994169" cy="374138"/>
          </a:xfrm>
          <a:prstGeom prst="rect">
            <a:avLst/>
          </a:prstGeom>
        </p:spPr>
        <p:txBody>
          <a:bodyPr anchor="t" rtlCol="false" tIns="0" lIns="0" bIns="0" rIns="0">
            <a:spAutoFit/>
          </a:bodyPr>
          <a:lstStyle/>
          <a:p>
            <a:pPr algn="l" marL="569932" indent="-284966" lvl="1">
              <a:lnSpc>
                <a:spcPts val="2771"/>
              </a:lnSpc>
              <a:spcBef>
                <a:spcPct val="0"/>
              </a:spcBef>
              <a:buFont typeface="Arial"/>
              <a:buChar char="•"/>
            </a:pPr>
            <a:r>
              <a:rPr lang="en-US" sz="2639" spc="89">
                <a:solidFill>
                  <a:srgbClr val="FFFFFF"/>
                </a:solidFill>
                <a:latin typeface="Poppins"/>
                <a:ea typeface="Poppins"/>
                <a:cs typeface="Poppins"/>
                <a:sym typeface="Poppins"/>
              </a:rPr>
              <a:t>Khái niệm</a:t>
            </a:r>
          </a:p>
        </p:txBody>
      </p:sp>
      <p:sp>
        <p:nvSpPr>
          <p:cNvPr name="Freeform 13" id="13"/>
          <p:cNvSpPr/>
          <p:nvPr/>
        </p:nvSpPr>
        <p:spPr>
          <a:xfrm flipH="false" flipV="false" rot="0">
            <a:off x="14390656" y="-1681809"/>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12"/>
            <a:stretch>
              <a:fillRect l="0" t="0" r="0" b="0"/>
            </a:stretch>
          </a:blipFill>
        </p:spPr>
      </p:sp>
      <p:sp>
        <p:nvSpPr>
          <p:cNvPr name="Freeform 14" id="14"/>
          <p:cNvSpPr/>
          <p:nvPr/>
        </p:nvSpPr>
        <p:spPr>
          <a:xfrm flipH="false" flipV="false" rot="0">
            <a:off x="-3396456" y="4248457"/>
            <a:ext cx="4607176" cy="5421018"/>
          </a:xfrm>
          <a:custGeom>
            <a:avLst/>
            <a:gdLst/>
            <a:ahLst/>
            <a:cxnLst/>
            <a:rect r="r" b="b" t="t" l="l"/>
            <a:pathLst>
              <a:path h="5421018" w="4607176">
                <a:moveTo>
                  <a:pt x="0" y="0"/>
                </a:moveTo>
                <a:lnTo>
                  <a:pt x="4607175" y="0"/>
                </a:lnTo>
                <a:lnTo>
                  <a:pt x="4607175" y="5421019"/>
                </a:lnTo>
                <a:lnTo>
                  <a:pt x="0" y="5421019"/>
                </a:lnTo>
                <a:lnTo>
                  <a:pt x="0" y="0"/>
                </a:lnTo>
                <a:close/>
              </a:path>
            </a:pathLst>
          </a:custGeom>
          <a:blipFill>
            <a:blip r:embed="rId12"/>
            <a:stretch>
              <a:fillRect l="0" t="0" r="0" b="0"/>
            </a:stretch>
          </a:blipFill>
        </p:spPr>
      </p:sp>
      <p:pic>
        <p:nvPicPr>
          <p:cNvPr name="Picture 15" id="15"/>
          <p:cNvPicPr>
            <a:picLocks noChangeAspect="true"/>
          </p:cNvPicPr>
          <p:nvPr/>
        </p:nvPicPr>
        <p:blipFill>
          <a:blip r:embed="rId13"/>
          <a:srcRect l="0" t="0" r="0" b="0"/>
          <a:stretch>
            <a:fillRect/>
          </a:stretch>
        </p:blipFill>
        <p:spPr>
          <a:xfrm flipH="false" flipV="false" rot="0">
            <a:off x="9483214" y="-2847975"/>
            <a:ext cx="4789808" cy="5068580"/>
          </a:xfrm>
          <a:prstGeom prst="rect">
            <a:avLst/>
          </a:prstGeom>
        </p:spPr>
      </p:pic>
      <p:sp>
        <p:nvSpPr>
          <p:cNvPr name="TextBox 16" id="16"/>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7" id="17"/>
          <p:cNvSpPr txBox="true"/>
          <p:nvPr/>
        </p:nvSpPr>
        <p:spPr>
          <a:xfrm rot="0">
            <a:off x="9087707" y="4267507"/>
            <a:ext cx="7994169" cy="717038"/>
          </a:xfrm>
          <a:prstGeom prst="rect">
            <a:avLst/>
          </a:prstGeom>
        </p:spPr>
        <p:txBody>
          <a:bodyPr anchor="t" rtlCol="false" tIns="0" lIns="0" bIns="0" rIns="0">
            <a:spAutoFit/>
          </a:bodyPr>
          <a:lstStyle/>
          <a:p>
            <a:pPr algn="l" marL="569932" indent="-284966" lvl="1">
              <a:lnSpc>
                <a:spcPts val="2771"/>
              </a:lnSpc>
              <a:spcBef>
                <a:spcPct val="0"/>
              </a:spcBef>
              <a:buFont typeface="Arial"/>
              <a:buChar char="•"/>
            </a:pPr>
            <a:r>
              <a:rPr lang="en-US" sz="2639" spc="89">
                <a:solidFill>
                  <a:srgbClr val="FFFFFF"/>
                </a:solidFill>
                <a:latin typeface="Poppins"/>
                <a:ea typeface="Poppins"/>
                <a:cs typeface="Poppins"/>
                <a:sym typeface="Poppins"/>
              </a:rPr>
              <a:t>Ra đời: Năm 2003, quá trình phát triển Matplotlib bắt đầu</a:t>
            </a:r>
          </a:p>
        </p:txBody>
      </p:sp>
      <p:sp>
        <p:nvSpPr>
          <p:cNvPr name="TextBox 18" id="18"/>
          <p:cNvSpPr txBox="true"/>
          <p:nvPr/>
        </p:nvSpPr>
        <p:spPr>
          <a:xfrm rot="0">
            <a:off x="9087707" y="5241721"/>
            <a:ext cx="7994169" cy="374138"/>
          </a:xfrm>
          <a:prstGeom prst="rect">
            <a:avLst/>
          </a:prstGeom>
        </p:spPr>
        <p:txBody>
          <a:bodyPr anchor="t" rtlCol="false" tIns="0" lIns="0" bIns="0" rIns="0">
            <a:spAutoFit/>
          </a:bodyPr>
          <a:lstStyle/>
          <a:p>
            <a:pPr algn="l" marL="569932" indent="-284966" lvl="1">
              <a:lnSpc>
                <a:spcPts val="2771"/>
              </a:lnSpc>
              <a:spcBef>
                <a:spcPct val="0"/>
              </a:spcBef>
              <a:buFont typeface="Arial"/>
              <a:buChar char="•"/>
            </a:pPr>
            <a:r>
              <a:rPr lang="en-US" sz="2639" spc="89">
                <a:solidFill>
                  <a:srgbClr val="FFFFFF"/>
                </a:solidFill>
                <a:latin typeface="Poppins"/>
                <a:ea typeface="Poppins"/>
                <a:cs typeface="Poppins"/>
                <a:sym typeface="Poppins"/>
              </a:rPr>
              <a:t>Người khởi xướng: John D. Hunter</a:t>
            </a:r>
          </a:p>
        </p:txBody>
      </p:sp>
      <p:sp>
        <p:nvSpPr>
          <p:cNvPr name="TextBox 19" id="19"/>
          <p:cNvSpPr txBox="true"/>
          <p:nvPr/>
        </p:nvSpPr>
        <p:spPr>
          <a:xfrm rot="0">
            <a:off x="9087707" y="6006384"/>
            <a:ext cx="7994169" cy="1059938"/>
          </a:xfrm>
          <a:prstGeom prst="rect">
            <a:avLst/>
          </a:prstGeom>
        </p:spPr>
        <p:txBody>
          <a:bodyPr anchor="t" rtlCol="false" tIns="0" lIns="0" bIns="0" rIns="0">
            <a:spAutoFit/>
          </a:bodyPr>
          <a:lstStyle/>
          <a:p>
            <a:pPr algn="l" marL="569932" indent="-284966" lvl="1">
              <a:lnSpc>
                <a:spcPts val="2771"/>
              </a:lnSpc>
              <a:spcBef>
                <a:spcPct val="0"/>
              </a:spcBef>
              <a:buFont typeface="Arial"/>
              <a:buChar char="•"/>
            </a:pPr>
            <a:r>
              <a:rPr lang="en-US" sz="2639" spc="89">
                <a:solidFill>
                  <a:srgbClr val="FFFFFF"/>
                </a:solidFill>
                <a:latin typeface="Poppins"/>
                <a:ea typeface="Poppins"/>
                <a:cs typeface="Poppins"/>
                <a:sym typeface="Poppins"/>
              </a:rPr>
              <a:t>Mục đích ban đầu: Tạo công cụ vẽ biểu đồ trong Python, có khả năng hỗ trợ nhu cầu trực quan hóa dữ liệu khoa học. </a:t>
            </a:r>
          </a:p>
        </p:txBody>
      </p:sp>
      <p:sp>
        <p:nvSpPr>
          <p:cNvPr name="TextBox 20" id="20"/>
          <p:cNvSpPr txBox="true"/>
          <p:nvPr/>
        </p:nvSpPr>
        <p:spPr>
          <a:xfrm rot="0">
            <a:off x="9087707" y="7323497"/>
            <a:ext cx="7994169" cy="374138"/>
          </a:xfrm>
          <a:prstGeom prst="rect">
            <a:avLst/>
          </a:prstGeom>
        </p:spPr>
        <p:txBody>
          <a:bodyPr anchor="t" rtlCol="false" tIns="0" lIns="0" bIns="0" rIns="0">
            <a:spAutoFit/>
          </a:bodyPr>
          <a:lstStyle/>
          <a:p>
            <a:pPr algn="l" marL="569932" indent="-284966" lvl="1">
              <a:lnSpc>
                <a:spcPts val="2771"/>
              </a:lnSpc>
              <a:spcBef>
                <a:spcPct val="0"/>
              </a:spcBef>
              <a:buFont typeface="Arial"/>
              <a:buChar char="•"/>
            </a:pPr>
            <a:r>
              <a:rPr lang="en-US" sz="2639" spc="89">
                <a:solidFill>
                  <a:srgbClr val="FFFFFF"/>
                </a:solidFill>
                <a:latin typeface="Poppins"/>
                <a:ea typeface="Poppins"/>
                <a:cs typeface="Poppins"/>
                <a:sym typeface="Poppins"/>
              </a:rPr>
              <a:t>Ưu và nhược điểm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333483" y="-5083807"/>
            <a:ext cx="11706247" cy="11706247"/>
          </a:xfrm>
          <a:custGeom>
            <a:avLst/>
            <a:gdLst/>
            <a:ahLst/>
            <a:cxnLst/>
            <a:rect r="r" b="b" t="t" l="l"/>
            <a:pathLst>
              <a:path h="11706247" w="11706247">
                <a:moveTo>
                  <a:pt x="0" y="0"/>
                </a:moveTo>
                <a:lnTo>
                  <a:pt x="11706247" y="0"/>
                </a:lnTo>
                <a:lnTo>
                  <a:pt x="11706247" y="11706247"/>
                </a:lnTo>
                <a:lnTo>
                  <a:pt x="0" y="117062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242845" y="2875690"/>
            <a:ext cx="15741814" cy="6382610"/>
            <a:chOff x="0" y="0"/>
            <a:chExt cx="4145992" cy="1681017"/>
          </a:xfrm>
        </p:grpSpPr>
        <p:sp>
          <p:nvSpPr>
            <p:cNvPr name="Freeform 8" id="8"/>
            <p:cNvSpPr/>
            <p:nvPr/>
          </p:nvSpPr>
          <p:spPr>
            <a:xfrm flipH="false" flipV="false" rot="0">
              <a:off x="0" y="0"/>
              <a:ext cx="4145992" cy="1681017"/>
            </a:xfrm>
            <a:custGeom>
              <a:avLst/>
              <a:gdLst/>
              <a:ahLst/>
              <a:cxnLst/>
              <a:rect r="r" b="b" t="t" l="l"/>
              <a:pathLst>
                <a:path h="1681017" w="4145992">
                  <a:moveTo>
                    <a:pt x="8361" y="0"/>
                  </a:moveTo>
                  <a:lnTo>
                    <a:pt x="4137631" y="0"/>
                  </a:lnTo>
                  <a:cubicBezTo>
                    <a:pt x="4139848" y="0"/>
                    <a:pt x="4141975" y="881"/>
                    <a:pt x="4143543" y="2449"/>
                  </a:cubicBezTo>
                  <a:cubicBezTo>
                    <a:pt x="4145111" y="4017"/>
                    <a:pt x="4145992" y="6143"/>
                    <a:pt x="4145992" y="8361"/>
                  </a:cubicBezTo>
                  <a:lnTo>
                    <a:pt x="4145992" y="1672656"/>
                  </a:lnTo>
                  <a:cubicBezTo>
                    <a:pt x="4145992" y="1677274"/>
                    <a:pt x="4142249" y="1681017"/>
                    <a:pt x="4137631" y="1681017"/>
                  </a:cubicBezTo>
                  <a:lnTo>
                    <a:pt x="8361" y="1681017"/>
                  </a:lnTo>
                  <a:cubicBezTo>
                    <a:pt x="6143" y="1681017"/>
                    <a:pt x="4017" y="1680136"/>
                    <a:pt x="2449" y="1678568"/>
                  </a:cubicBezTo>
                  <a:cubicBezTo>
                    <a:pt x="881" y="1677000"/>
                    <a:pt x="0" y="1674874"/>
                    <a:pt x="0" y="1672656"/>
                  </a:cubicBezTo>
                  <a:lnTo>
                    <a:pt x="0" y="8361"/>
                  </a:lnTo>
                  <a:cubicBezTo>
                    <a:pt x="0" y="6143"/>
                    <a:pt x="881" y="4017"/>
                    <a:pt x="2449" y="2449"/>
                  </a:cubicBezTo>
                  <a:cubicBezTo>
                    <a:pt x="4017" y="881"/>
                    <a:pt x="6143" y="0"/>
                    <a:pt x="8361" y="0"/>
                  </a:cubicBezTo>
                  <a:close/>
                </a:path>
              </a:pathLst>
            </a:custGeom>
            <a:ln w="57150" cap="sq">
              <a:solidFill>
                <a:srgbClr val="F0F7FE"/>
              </a:solidFill>
              <a:prstDash val="solid"/>
              <a:miter/>
            </a:ln>
          </p:spPr>
        </p:sp>
        <p:sp>
          <p:nvSpPr>
            <p:cNvPr name="TextBox 9" id="9"/>
            <p:cNvSpPr txBox="true"/>
            <p:nvPr/>
          </p:nvSpPr>
          <p:spPr>
            <a:xfrm>
              <a:off x="0" y="28575"/>
              <a:ext cx="4145992" cy="1652442"/>
            </a:xfrm>
            <a:prstGeom prst="rect">
              <a:avLst/>
            </a:prstGeom>
          </p:spPr>
          <p:txBody>
            <a:bodyPr anchor="ctr" rtlCol="false" tIns="50800" lIns="50800" bIns="50800" rIns="50800"/>
            <a:lstStyle/>
            <a:p>
              <a:pPr algn="ctr">
                <a:lnSpc>
                  <a:spcPts val="1826"/>
                </a:lnSpc>
              </a:pPr>
            </a:p>
          </p:txBody>
        </p:sp>
      </p:grpSp>
      <p:grpSp>
        <p:nvGrpSpPr>
          <p:cNvPr name="Group 10" id="10"/>
          <p:cNvGrpSpPr/>
          <p:nvPr/>
        </p:nvGrpSpPr>
        <p:grpSpPr>
          <a:xfrm rot="0">
            <a:off x="2421009" y="3504486"/>
            <a:ext cx="3814194" cy="748374"/>
            <a:chOff x="0" y="0"/>
            <a:chExt cx="1004561" cy="197103"/>
          </a:xfrm>
        </p:grpSpPr>
        <p:sp>
          <p:nvSpPr>
            <p:cNvPr name="Freeform 11" id="11"/>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2" id="12"/>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13" id="13"/>
          <p:cNvSpPr/>
          <p:nvPr/>
        </p:nvSpPr>
        <p:spPr>
          <a:xfrm flipH="false" flipV="false" rot="0">
            <a:off x="2606841" y="3621080"/>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6984659" y="653111"/>
            <a:ext cx="549282" cy="549282"/>
          </a:xfrm>
          <a:custGeom>
            <a:avLst/>
            <a:gdLst/>
            <a:ahLst/>
            <a:cxnLst/>
            <a:rect r="r" b="b" t="t" l="l"/>
            <a:pathLst>
              <a:path h="549282" w="549282">
                <a:moveTo>
                  <a:pt x="0" y="0"/>
                </a:moveTo>
                <a:lnTo>
                  <a:pt x="549282" y="0"/>
                </a:lnTo>
                <a:lnTo>
                  <a:pt x="549282" y="549283"/>
                </a:lnTo>
                <a:lnTo>
                  <a:pt x="0" y="5492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2421009" y="6437029"/>
            <a:ext cx="3814194" cy="748374"/>
            <a:chOff x="0" y="0"/>
            <a:chExt cx="1004561" cy="197103"/>
          </a:xfrm>
        </p:grpSpPr>
        <p:sp>
          <p:nvSpPr>
            <p:cNvPr name="Freeform 16" id="16"/>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7" id="17"/>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18" id="18"/>
          <p:cNvSpPr/>
          <p:nvPr/>
        </p:nvSpPr>
        <p:spPr>
          <a:xfrm flipH="false" flipV="false" rot="0">
            <a:off x="2606841" y="6553623"/>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9930173" y="3507470"/>
            <a:ext cx="3814194" cy="748374"/>
            <a:chOff x="0" y="0"/>
            <a:chExt cx="1004561" cy="197103"/>
          </a:xfrm>
        </p:grpSpPr>
        <p:sp>
          <p:nvSpPr>
            <p:cNvPr name="Freeform 20" id="20"/>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1" id="21"/>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22" id="22"/>
          <p:cNvSpPr/>
          <p:nvPr/>
        </p:nvSpPr>
        <p:spPr>
          <a:xfrm flipH="false" flipV="false" rot="0">
            <a:off x="10116004" y="3624064"/>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3" id="23"/>
          <p:cNvGrpSpPr/>
          <p:nvPr/>
        </p:nvGrpSpPr>
        <p:grpSpPr>
          <a:xfrm rot="0">
            <a:off x="9930173" y="6440013"/>
            <a:ext cx="3814194" cy="748374"/>
            <a:chOff x="0" y="0"/>
            <a:chExt cx="1004561" cy="197103"/>
          </a:xfrm>
        </p:grpSpPr>
        <p:sp>
          <p:nvSpPr>
            <p:cNvPr name="Freeform 24" id="24"/>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5" id="25"/>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26" id="26"/>
          <p:cNvSpPr/>
          <p:nvPr/>
        </p:nvSpPr>
        <p:spPr>
          <a:xfrm flipH="false" flipV="false" rot="0">
            <a:off x="10116004" y="6556607"/>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27" id="27"/>
          <p:cNvPicPr>
            <a:picLocks noChangeAspect="true"/>
          </p:cNvPicPr>
          <p:nvPr/>
        </p:nvPicPr>
        <p:blipFill>
          <a:blip r:embed="rId10"/>
          <a:srcRect l="0" t="0" r="0" b="0"/>
          <a:stretch>
            <a:fillRect/>
          </a:stretch>
        </p:blipFill>
        <p:spPr>
          <a:xfrm flipH="false" flipV="false" rot="0">
            <a:off x="475454" y="4037168"/>
            <a:ext cx="1978987" cy="2384321"/>
          </a:xfrm>
          <a:prstGeom prst="rect">
            <a:avLst/>
          </a:prstGeom>
        </p:spPr>
      </p:pic>
      <p:pic>
        <p:nvPicPr>
          <p:cNvPr name="Picture 28" id="28"/>
          <p:cNvPicPr>
            <a:picLocks noChangeAspect="true"/>
          </p:cNvPicPr>
          <p:nvPr/>
        </p:nvPicPr>
        <p:blipFill>
          <a:blip r:embed="rId11"/>
          <a:srcRect l="0" t="0" r="0" b="0"/>
          <a:stretch>
            <a:fillRect/>
          </a:stretch>
        </p:blipFill>
        <p:spPr>
          <a:xfrm flipH="false" flipV="false" rot="0">
            <a:off x="6491439" y="7628950"/>
            <a:ext cx="3224200" cy="3111353"/>
          </a:xfrm>
          <a:prstGeom prst="rect">
            <a:avLst/>
          </a:prstGeom>
        </p:spPr>
      </p:pic>
      <p:sp>
        <p:nvSpPr>
          <p:cNvPr name="TextBox 29" id="29"/>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30" id="30"/>
          <p:cNvSpPr txBox="true"/>
          <p:nvPr/>
        </p:nvSpPr>
        <p:spPr>
          <a:xfrm rot="0">
            <a:off x="3369756" y="2023361"/>
            <a:ext cx="11069562" cy="65230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PYTORCH</a:t>
            </a:r>
          </a:p>
        </p:txBody>
      </p:sp>
      <p:sp>
        <p:nvSpPr>
          <p:cNvPr name="TextBox 31" id="31"/>
          <p:cNvSpPr txBox="true"/>
          <p:nvPr/>
        </p:nvSpPr>
        <p:spPr>
          <a:xfrm rot="0">
            <a:off x="3067668" y="6668156"/>
            <a:ext cx="3038854"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NGUỒN GỐC</a:t>
            </a:r>
          </a:p>
        </p:txBody>
      </p:sp>
      <p:sp>
        <p:nvSpPr>
          <p:cNvPr name="TextBox 32" id="32"/>
          <p:cNvSpPr txBox="true"/>
          <p:nvPr/>
        </p:nvSpPr>
        <p:spPr>
          <a:xfrm rot="0">
            <a:off x="10576831" y="3738598"/>
            <a:ext cx="3038854"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THỜI GIAN RA ĐỜI</a:t>
            </a:r>
          </a:p>
        </p:txBody>
      </p:sp>
      <p:sp>
        <p:nvSpPr>
          <p:cNvPr name="TextBox 33" id="33"/>
          <p:cNvSpPr txBox="true"/>
          <p:nvPr/>
        </p:nvSpPr>
        <p:spPr>
          <a:xfrm rot="0">
            <a:off x="10576831" y="6671140"/>
            <a:ext cx="3167535"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ƯU VÀ NHƯỢC ĐIỂM</a:t>
            </a:r>
          </a:p>
        </p:txBody>
      </p:sp>
      <p:sp>
        <p:nvSpPr>
          <p:cNvPr name="TextBox 34" id="34"/>
          <p:cNvSpPr txBox="true"/>
          <p:nvPr/>
        </p:nvSpPr>
        <p:spPr>
          <a:xfrm rot="0">
            <a:off x="3067668" y="3729704"/>
            <a:ext cx="3038854"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KHÁI NIỆM</a:t>
            </a:r>
          </a:p>
        </p:txBody>
      </p:sp>
      <p:sp>
        <p:nvSpPr>
          <p:cNvPr name="TextBox 35" id="35"/>
          <p:cNvSpPr txBox="true"/>
          <p:nvPr/>
        </p:nvSpPr>
        <p:spPr>
          <a:xfrm rot="0">
            <a:off x="2591299" y="4624336"/>
            <a:ext cx="3473615" cy="1159133"/>
          </a:xfrm>
          <a:prstGeom prst="rect">
            <a:avLst/>
          </a:prstGeom>
        </p:spPr>
        <p:txBody>
          <a:bodyPr anchor="t" rtlCol="false" tIns="0" lIns="0" bIns="0" rIns="0">
            <a:spAutoFit/>
          </a:bodyPr>
          <a:lstStyle/>
          <a:p>
            <a:pPr algn="l">
              <a:lnSpc>
                <a:spcPts val="2344"/>
              </a:lnSpc>
            </a:pPr>
            <a:r>
              <a:rPr lang="en-US" sz="1674">
                <a:solidFill>
                  <a:srgbClr val="FFFFFF"/>
                </a:solidFill>
                <a:latin typeface="Noto Sans"/>
                <a:ea typeface="Noto Sans"/>
                <a:cs typeface="Noto Sans"/>
                <a:sym typeface="Noto Sans"/>
              </a:rPr>
              <a:t>- PyTorch là một framework học máy cung cấp các công cụ tính toán tensor, tự động tính gradient và xây dựng mạng nơ-ron. </a:t>
            </a:r>
          </a:p>
        </p:txBody>
      </p:sp>
      <p:sp>
        <p:nvSpPr>
          <p:cNvPr name="TextBox 36" id="36"/>
          <p:cNvSpPr txBox="true"/>
          <p:nvPr/>
        </p:nvSpPr>
        <p:spPr>
          <a:xfrm rot="0">
            <a:off x="10116004" y="4545966"/>
            <a:ext cx="3525937" cy="280669"/>
          </a:xfrm>
          <a:prstGeom prst="rect">
            <a:avLst/>
          </a:prstGeom>
        </p:spPr>
        <p:txBody>
          <a:bodyPr anchor="t" rtlCol="false" tIns="0" lIns="0" bIns="0" rIns="0">
            <a:spAutoFit/>
          </a:bodyPr>
          <a:lstStyle/>
          <a:p>
            <a:pPr algn="l">
              <a:lnSpc>
                <a:spcPts val="2380"/>
              </a:lnSpc>
            </a:pPr>
            <a:r>
              <a:rPr lang="en-US" sz="1700">
                <a:solidFill>
                  <a:srgbClr val="FFFFFF"/>
                </a:solidFill>
                <a:latin typeface="Noto Sans"/>
                <a:ea typeface="Noto Sans"/>
                <a:cs typeface="Noto Sans"/>
                <a:sym typeface="Noto Sans"/>
              </a:rPr>
              <a:t>- Ra mắt công khai: Năm 2016. </a:t>
            </a:r>
          </a:p>
        </p:txBody>
      </p:sp>
      <p:sp>
        <p:nvSpPr>
          <p:cNvPr name="TextBox 37" id="37"/>
          <p:cNvSpPr txBox="true"/>
          <p:nvPr/>
        </p:nvSpPr>
        <p:spPr>
          <a:xfrm rot="0">
            <a:off x="10116004" y="5074706"/>
            <a:ext cx="3525937" cy="1461769"/>
          </a:xfrm>
          <a:prstGeom prst="rect">
            <a:avLst/>
          </a:prstGeom>
        </p:spPr>
        <p:txBody>
          <a:bodyPr anchor="t" rtlCol="false" tIns="0" lIns="0" bIns="0" rIns="0">
            <a:spAutoFit/>
          </a:bodyPr>
          <a:lstStyle/>
          <a:p>
            <a:pPr algn="l">
              <a:lnSpc>
                <a:spcPts val="2380"/>
              </a:lnSpc>
            </a:pPr>
            <a:r>
              <a:rPr lang="en-US" sz="1700">
                <a:solidFill>
                  <a:srgbClr val="FFFFFF"/>
                </a:solidFill>
                <a:latin typeface="Noto Sans"/>
                <a:ea typeface="Noto Sans"/>
                <a:cs typeface="Noto Sans"/>
                <a:sym typeface="Noto Sans"/>
              </a:rPr>
              <a:t>- Đơn vị phát triển ban đầu: Facebook AI Research (FAIR), hiện thuộc hệ sinh thái Meta AI. </a:t>
            </a:r>
          </a:p>
          <a:p>
            <a:pPr algn="l">
              <a:lnSpc>
                <a:spcPts val="2380"/>
              </a:lnSpc>
            </a:pPr>
          </a:p>
          <a:p>
            <a:pPr algn="l">
              <a:lnSpc>
                <a:spcPts val="2380"/>
              </a:lnSpc>
            </a:pPr>
          </a:p>
        </p:txBody>
      </p:sp>
      <p:sp>
        <p:nvSpPr>
          <p:cNvPr name="TextBox 38" id="38"/>
          <p:cNvSpPr txBox="true"/>
          <p:nvPr/>
        </p:nvSpPr>
        <p:spPr>
          <a:xfrm rot="0">
            <a:off x="2606841" y="7433053"/>
            <a:ext cx="3525937" cy="1461769"/>
          </a:xfrm>
          <a:prstGeom prst="rect">
            <a:avLst/>
          </a:prstGeom>
        </p:spPr>
        <p:txBody>
          <a:bodyPr anchor="t" rtlCol="false" tIns="0" lIns="0" bIns="0" rIns="0">
            <a:spAutoFit/>
          </a:bodyPr>
          <a:lstStyle/>
          <a:p>
            <a:pPr algn="l">
              <a:lnSpc>
                <a:spcPts val="2380"/>
              </a:lnSpc>
            </a:pPr>
            <a:r>
              <a:rPr lang="en-US" sz="1700">
                <a:solidFill>
                  <a:srgbClr val="FFFFFF"/>
                </a:solidFill>
                <a:latin typeface="Noto Sans"/>
                <a:ea typeface="Noto Sans"/>
                <a:cs typeface="Noto Sans"/>
                <a:sym typeface="Noto Sans"/>
              </a:rPr>
              <a:t>- Nguồn gốc: PyTorch phát triển dựa trên các ý tưởng và nền tảng từ Torch, đồng thời cung cấp cách xây dựng mô hình thuận tiện trong Python. </a:t>
            </a:r>
          </a:p>
        </p:txBody>
      </p:sp>
      <p:sp>
        <p:nvSpPr>
          <p:cNvPr name="TextBox 39" id="39"/>
          <p:cNvSpPr txBox="true"/>
          <p:nvPr/>
        </p:nvSpPr>
        <p:spPr>
          <a:xfrm rot="0">
            <a:off x="10074301" y="7423528"/>
            <a:ext cx="3525937" cy="372744"/>
          </a:xfrm>
          <a:prstGeom prst="rect">
            <a:avLst/>
          </a:prstGeom>
        </p:spPr>
        <p:txBody>
          <a:bodyPr anchor="t" rtlCol="false" tIns="0" lIns="0" bIns="0" rIns="0">
            <a:spAutoFit/>
          </a:bodyPr>
          <a:lstStyle/>
          <a:p>
            <a:pPr algn="l">
              <a:lnSpc>
                <a:spcPts val="3080"/>
              </a:lnSpc>
            </a:pPr>
            <a:r>
              <a:rPr lang="en-US" sz="2200">
                <a:solidFill>
                  <a:srgbClr val="FFFFFF"/>
                </a:solidFill>
                <a:latin typeface="Noto Sans"/>
                <a:ea typeface="Noto Sans"/>
                <a:cs typeface="Noto Sans"/>
                <a:sym typeface="Noto Sans"/>
              </a:rPr>
              <a:t>- Ưu điểm</a:t>
            </a:r>
          </a:p>
        </p:txBody>
      </p:sp>
      <p:sp>
        <p:nvSpPr>
          <p:cNvPr name="TextBox 40" id="40"/>
          <p:cNvSpPr txBox="true"/>
          <p:nvPr/>
        </p:nvSpPr>
        <p:spPr>
          <a:xfrm rot="0">
            <a:off x="10074301" y="8177273"/>
            <a:ext cx="3525937" cy="372744"/>
          </a:xfrm>
          <a:prstGeom prst="rect">
            <a:avLst/>
          </a:prstGeom>
        </p:spPr>
        <p:txBody>
          <a:bodyPr anchor="t" rtlCol="false" tIns="0" lIns="0" bIns="0" rIns="0">
            <a:spAutoFit/>
          </a:bodyPr>
          <a:lstStyle/>
          <a:p>
            <a:pPr algn="l">
              <a:lnSpc>
                <a:spcPts val="3080"/>
              </a:lnSpc>
            </a:pPr>
            <a:r>
              <a:rPr lang="en-US" sz="2200">
                <a:solidFill>
                  <a:srgbClr val="FFFFFF"/>
                </a:solidFill>
                <a:latin typeface="Noto Sans"/>
                <a:ea typeface="Noto Sans"/>
                <a:cs typeface="Noto Sans"/>
                <a:sym typeface="Noto Sans"/>
              </a:rPr>
              <a:t>- Nhược điểm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764242" y="840906"/>
            <a:ext cx="10641098" cy="9557641"/>
          </a:xfrm>
          <a:custGeom>
            <a:avLst/>
            <a:gdLst/>
            <a:ahLst/>
            <a:cxnLst/>
            <a:rect r="r" b="b" t="t" l="l"/>
            <a:pathLst>
              <a:path h="9557641" w="10641098">
                <a:moveTo>
                  <a:pt x="0" y="0"/>
                </a:moveTo>
                <a:lnTo>
                  <a:pt x="10641099" y="0"/>
                </a:lnTo>
                <a:lnTo>
                  <a:pt x="10641099" y="9557641"/>
                </a:lnTo>
                <a:lnTo>
                  <a:pt x="0" y="95576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265131" y="8295864"/>
            <a:ext cx="549282" cy="549282"/>
          </a:xfrm>
          <a:custGeom>
            <a:avLst/>
            <a:gdLst/>
            <a:ahLst/>
            <a:cxnLst/>
            <a:rect r="r" b="b" t="t" l="l"/>
            <a:pathLst>
              <a:path h="549282" w="549282">
                <a:moveTo>
                  <a:pt x="0" y="0"/>
                </a:moveTo>
                <a:lnTo>
                  <a:pt x="549282" y="0"/>
                </a:lnTo>
                <a:lnTo>
                  <a:pt x="549282" y="549283"/>
                </a:lnTo>
                <a:lnTo>
                  <a:pt x="0" y="5492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9087707" y="2625041"/>
            <a:ext cx="8308737" cy="1149283"/>
          </a:xfrm>
          <a:prstGeom prst="rect">
            <a:avLst/>
          </a:prstGeom>
        </p:spPr>
        <p:txBody>
          <a:bodyPr anchor="t" rtlCol="false" tIns="0" lIns="0" bIns="0" rIns="0">
            <a:spAutoFit/>
          </a:bodyPr>
          <a:lstStyle/>
          <a:p>
            <a:pPr algn="l">
              <a:lnSpc>
                <a:spcPts val="4444"/>
              </a:lnSpc>
            </a:pPr>
            <a:r>
              <a:rPr lang="en-US" sz="4233" b="true">
                <a:solidFill>
                  <a:srgbClr val="FFFFFF"/>
                </a:solidFill>
                <a:latin typeface="TT Lakes Neue Expanded Bold"/>
                <a:ea typeface="TT Lakes Neue Expanded Bold"/>
                <a:cs typeface="TT Lakes Neue Expanded Bold"/>
                <a:sym typeface="TT Lakes Neue Expanded Bold"/>
              </a:rPr>
              <a:t>TÌM HIỂU NOTEBOOK VÀ NGUỒN DỮ LIỆU</a:t>
            </a:r>
          </a:p>
        </p:txBody>
      </p:sp>
      <p:sp>
        <p:nvSpPr>
          <p:cNvPr name="Freeform 6" id="6"/>
          <p:cNvSpPr/>
          <p:nvPr/>
        </p:nvSpPr>
        <p:spPr>
          <a:xfrm flipH="false" flipV="false" rot="0">
            <a:off x="-3396456" y="4248457"/>
            <a:ext cx="4607176" cy="5421018"/>
          </a:xfrm>
          <a:custGeom>
            <a:avLst/>
            <a:gdLst/>
            <a:ahLst/>
            <a:cxnLst/>
            <a:rect r="r" b="b" t="t" l="l"/>
            <a:pathLst>
              <a:path h="5421018" w="4607176">
                <a:moveTo>
                  <a:pt x="0" y="0"/>
                </a:moveTo>
                <a:lnTo>
                  <a:pt x="4607175" y="0"/>
                </a:lnTo>
                <a:lnTo>
                  <a:pt x="4607175" y="5421019"/>
                </a:lnTo>
                <a:lnTo>
                  <a:pt x="0" y="5421019"/>
                </a:lnTo>
                <a:lnTo>
                  <a:pt x="0" y="0"/>
                </a:lnTo>
                <a:close/>
              </a:path>
            </a:pathLst>
          </a:custGeom>
          <a:blipFill>
            <a:blip r:embed="rId8"/>
            <a:stretch>
              <a:fillRect l="0" t="0" r="0" b="0"/>
            </a:stretch>
          </a:blipFill>
        </p:spPr>
      </p:sp>
      <p:sp>
        <p:nvSpPr>
          <p:cNvPr name="Freeform 7" id="7"/>
          <p:cNvSpPr/>
          <p:nvPr/>
        </p:nvSpPr>
        <p:spPr>
          <a:xfrm flipH="true" flipV="false" rot="0">
            <a:off x="1709231" y="1028700"/>
            <a:ext cx="5393206" cy="8698720"/>
          </a:xfrm>
          <a:custGeom>
            <a:avLst/>
            <a:gdLst/>
            <a:ahLst/>
            <a:cxnLst/>
            <a:rect r="r" b="b" t="t" l="l"/>
            <a:pathLst>
              <a:path h="8698720" w="5393206">
                <a:moveTo>
                  <a:pt x="5393207" y="0"/>
                </a:moveTo>
                <a:lnTo>
                  <a:pt x="0" y="0"/>
                </a:lnTo>
                <a:lnTo>
                  <a:pt x="0" y="8698720"/>
                </a:lnTo>
                <a:lnTo>
                  <a:pt x="5393207" y="8698720"/>
                </a:lnTo>
                <a:lnTo>
                  <a:pt x="5393207"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true" flipV="false" rot="0">
            <a:off x="54823" y="5250573"/>
            <a:ext cx="3665913" cy="4114800"/>
          </a:xfrm>
          <a:custGeom>
            <a:avLst/>
            <a:gdLst/>
            <a:ahLst/>
            <a:cxnLst/>
            <a:rect r="r" b="b" t="t" l="l"/>
            <a:pathLst>
              <a:path h="4114800" w="3665913">
                <a:moveTo>
                  <a:pt x="3665913" y="0"/>
                </a:moveTo>
                <a:lnTo>
                  <a:pt x="0" y="0"/>
                </a:lnTo>
                <a:lnTo>
                  <a:pt x="0" y="4114800"/>
                </a:lnTo>
                <a:lnTo>
                  <a:pt x="3665913" y="4114800"/>
                </a:lnTo>
                <a:lnTo>
                  <a:pt x="3665913"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9087707" y="4307723"/>
            <a:ext cx="7994169" cy="404618"/>
          </a:xfrm>
          <a:prstGeom prst="rect">
            <a:avLst/>
          </a:prstGeom>
        </p:spPr>
        <p:txBody>
          <a:bodyPr anchor="t" rtlCol="false" tIns="0" lIns="0" bIns="0" rIns="0">
            <a:spAutoFit/>
          </a:bodyPr>
          <a:lstStyle/>
          <a:p>
            <a:pPr algn="just">
              <a:lnSpc>
                <a:spcPts val="2876"/>
              </a:lnSpc>
              <a:spcBef>
                <a:spcPct val="0"/>
              </a:spcBef>
            </a:pPr>
            <a:r>
              <a:rPr lang="en-US" sz="2739" spc="93">
                <a:solidFill>
                  <a:srgbClr val="FFFFFF"/>
                </a:solidFill>
                <a:latin typeface="Poppins"/>
                <a:ea typeface="Poppins"/>
                <a:cs typeface="Poppins"/>
                <a:sym typeface="Poppins"/>
              </a:rPr>
              <a:t>1. Notebook</a:t>
            </a:r>
          </a:p>
        </p:txBody>
      </p:sp>
      <p:sp>
        <p:nvSpPr>
          <p:cNvPr name="TextBox 10" id="10"/>
          <p:cNvSpPr txBox="true"/>
          <p:nvPr/>
        </p:nvSpPr>
        <p:spPr>
          <a:xfrm rot="0">
            <a:off x="9087707" y="4945393"/>
            <a:ext cx="7994169" cy="619884"/>
          </a:xfrm>
          <a:prstGeom prst="rect">
            <a:avLst/>
          </a:prstGeom>
        </p:spPr>
        <p:txBody>
          <a:bodyPr anchor="t" rtlCol="false" tIns="0" lIns="0" bIns="0" rIns="0">
            <a:spAutoFit/>
          </a:bodyPr>
          <a:lstStyle/>
          <a:p>
            <a:pPr algn="just">
              <a:lnSpc>
                <a:spcPts val="1616"/>
              </a:lnSpc>
              <a:spcBef>
                <a:spcPct val="0"/>
              </a:spcBef>
            </a:pPr>
            <a:r>
              <a:rPr lang="en-US" sz="1539" spc="52">
                <a:solidFill>
                  <a:srgbClr val="FFFFFF"/>
                </a:solidFill>
                <a:latin typeface="Poppins"/>
                <a:ea typeface="Poppins"/>
                <a:cs typeface="Poppins"/>
                <a:sym typeface="Poppins"/>
              </a:rPr>
              <a:t>Notebook là môi trường làm việc cho phép kết hợp mã nguồn, kết quả chạy chương trình, văn bản giải thích, công thức toán học và biểu đồ trong cùng một tài liệu. </a:t>
            </a:r>
          </a:p>
        </p:txBody>
      </p:sp>
      <p:sp>
        <p:nvSpPr>
          <p:cNvPr name="TextBox 11" id="11"/>
          <p:cNvSpPr txBox="true"/>
          <p:nvPr/>
        </p:nvSpPr>
        <p:spPr>
          <a:xfrm rot="0">
            <a:off x="9087707" y="6098677"/>
            <a:ext cx="7994169" cy="404618"/>
          </a:xfrm>
          <a:prstGeom prst="rect">
            <a:avLst/>
          </a:prstGeom>
        </p:spPr>
        <p:txBody>
          <a:bodyPr anchor="t" rtlCol="false" tIns="0" lIns="0" bIns="0" rIns="0">
            <a:spAutoFit/>
          </a:bodyPr>
          <a:lstStyle/>
          <a:p>
            <a:pPr algn="l">
              <a:lnSpc>
                <a:spcPts val="2876"/>
              </a:lnSpc>
              <a:spcBef>
                <a:spcPct val="0"/>
              </a:spcBef>
            </a:pPr>
            <a:r>
              <a:rPr lang="en-US" sz="2739" spc="93">
                <a:solidFill>
                  <a:srgbClr val="FFFFFF"/>
                </a:solidFill>
                <a:latin typeface="Poppins"/>
                <a:ea typeface="Poppins"/>
                <a:cs typeface="Poppins"/>
                <a:sym typeface="Poppins"/>
              </a:rPr>
              <a:t>2. Jupyter Notebook</a:t>
            </a:r>
          </a:p>
        </p:txBody>
      </p:sp>
      <p:sp>
        <p:nvSpPr>
          <p:cNvPr name="TextBox 12" id="12"/>
          <p:cNvSpPr txBox="true"/>
          <p:nvPr/>
        </p:nvSpPr>
        <p:spPr>
          <a:xfrm rot="0">
            <a:off x="9087707" y="6731895"/>
            <a:ext cx="7994169" cy="419859"/>
          </a:xfrm>
          <a:prstGeom prst="rect">
            <a:avLst/>
          </a:prstGeom>
        </p:spPr>
        <p:txBody>
          <a:bodyPr anchor="t" rtlCol="false" tIns="0" lIns="0" bIns="0" rIns="0">
            <a:spAutoFit/>
          </a:bodyPr>
          <a:lstStyle/>
          <a:p>
            <a:pPr algn="just">
              <a:lnSpc>
                <a:spcPts val="1616"/>
              </a:lnSpc>
              <a:spcBef>
                <a:spcPct val="0"/>
              </a:spcBef>
            </a:pPr>
            <a:r>
              <a:rPr lang="en-US" sz="1539" spc="52">
                <a:solidFill>
                  <a:srgbClr val="FFFFFF"/>
                </a:solidFill>
                <a:latin typeface="Poppins"/>
                <a:ea typeface="Poppins"/>
                <a:cs typeface="Poppins"/>
                <a:sym typeface="Poppins"/>
              </a:rPr>
              <a:t>Công cụ mã nguồn mở cho phép tạo và chạy Notebook trên máy tính cá nhân hoặc môi trường máy chủ.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390656" y="-1681809"/>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4"/>
            <a:stretch>
              <a:fillRect l="0" t="0" r="0" b="0"/>
            </a:stretch>
          </a:blipFill>
        </p:spPr>
      </p:sp>
      <p:sp>
        <p:nvSpPr>
          <p:cNvPr name="Freeform 7" id="7"/>
          <p:cNvSpPr/>
          <p:nvPr/>
        </p:nvSpPr>
        <p:spPr>
          <a:xfrm flipH="false" flipV="false" rot="0">
            <a:off x="8732038" y="8397334"/>
            <a:ext cx="549282" cy="549282"/>
          </a:xfrm>
          <a:custGeom>
            <a:avLst/>
            <a:gdLst/>
            <a:ahLst/>
            <a:cxnLst/>
            <a:rect r="r" b="b" t="t" l="l"/>
            <a:pathLst>
              <a:path h="549282" w="549282">
                <a:moveTo>
                  <a:pt x="0" y="0"/>
                </a:moveTo>
                <a:lnTo>
                  <a:pt x="549283" y="0"/>
                </a:lnTo>
                <a:lnTo>
                  <a:pt x="549283" y="549283"/>
                </a:lnTo>
                <a:lnTo>
                  <a:pt x="0" y="5492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1028700" y="2719668"/>
            <a:ext cx="4279612" cy="6226948"/>
          </a:xfrm>
          <a:custGeom>
            <a:avLst/>
            <a:gdLst/>
            <a:ahLst/>
            <a:cxnLst/>
            <a:rect r="r" b="b" t="t" l="l"/>
            <a:pathLst>
              <a:path h="6226948" w="4279612">
                <a:moveTo>
                  <a:pt x="4279612" y="0"/>
                </a:moveTo>
                <a:lnTo>
                  <a:pt x="0" y="0"/>
                </a:lnTo>
                <a:lnTo>
                  <a:pt x="0" y="6226949"/>
                </a:lnTo>
                <a:lnTo>
                  <a:pt x="4279612" y="6226949"/>
                </a:lnTo>
                <a:lnTo>
                  <a:pt x="4279612"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Freeform 10" id="10"/>
          <p:cNvSpPr/>
          <p:nvPr/>
        </p:nvSpPr>
        <p:spPr>
          <a:xfrm flipH="false" flipV="false" rot="0">
            <a:off x="12705047" y="2719668"/>
            <a:ext cx="4279612" cy="6226948"/>
          </a:xfrm>
          <a:custGeom>
            <a:avLst/>
            <a:gdLst/>
            <a:ahLst/>
            <a:cxnLst/>
            <a:rect r="r" b="b" t="t" l="l"/>
            <a:pathLst>
              <a:path h="6226948" w="4279612">
                <a:moveTo>
                  <a:pt x="0" y="0"/>
                </a:moveTo>
                <a:lnTo>
                  <a:pt x="4279612" y="0"/>
                </a:lnTo>
                <a:lnTo>
                  <a:pt x="4279612" y="6226949"/>
                </a:lnTo>
                <a:lnTo>
                  <a:pt x="0" y="62269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5559413" y="1552575"/>
            <a:ext cx="6345251" cy="339848"/>
          </a:xfrm>
          <a:prstGeom prst="rect">
            <a:avLst/>
          </a:prstGeom>
        </p:spPr>
        <p:txBody>
          <a:bodyPr anchor="t" rtlCol="false" tIns="0" lIns="0" bIns="0" rIns="0">
            <a:spAutoFit/>
          </a:bodyPr>
          <a:lstStyle/>
          <a:p>
            <a:pPr algn="l">
              <a:lnSpc>
                <a:spcPts val="2456"/>
              </a:lnSpc>
              <a:spcBef>
                <a:spcPct val="0"/>
              </a:spcBef>
            </a:pPr>
            <a:r>
              <a:rPr lang="en-US" b="true" sz="2339" spc="79">
                <a:solidFill>
                  <a:srgbClr val="FFFFFF"/>
                </a:solidFill>
                <a:latin typeface="Poppins Bold"/>
                <a:ea typeface="Poppins Bold"/>
                <a:cs typeface="Poppins Bold"/>
                <a:sym typeface="Poppins Bold"/>
              </a:rPr>
              <a:t>3. Google Colab</a:t>
            </a:r>
          </a:p>
        </p:txBody>
      </p:sp>
      <p:sp>
        <p:nvSpPr>
          <p:cNvPr name="Freeform 12" id="12"/>
          <p:cNvSpPr/>
          <p:nvPr/>
        </p:nvSpPr>
        <p:spPr>
          <a:xfrm flipH="false" flipV="false" rot="0">
            <a:off x="-2719397" y="5833143"/>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4"/>
            <a:stretch>
              <a:fillRect l="0" t="0" r="0" b="0"/>
            </a:stretch>
          </a:blipFill>
        </p:spPr>
      </p:sp>
      <p:sp>
        <p:nvSpPr>
          <p:cNvPr name="TextBox 13" id="13"/>
          <p:cNvSpPr txBox="true"/>
          <p:nvPr/>
        </p:nvSpPr>
        <p:spPr>
          <a:xfrm rot="0">
            <a:off x="5559413" y="2181225"/>
            <a:ext cx="6345251" cy="1592386"/>
          </a:xfrm>
          <a:prstGeom prst="rect">
            <a:avLst/>
          </a:prstGeom>
        </p:spPr>
        <p:txBody>
          <a:bodyPr anchor="t" rtlCol="false" tIns="0" lIns="0" bIns="0" rIns="0">
            <a:spAutoFit/>
          </a:bodyPr>
          <a:lstStyle/>
          <a:p>
            <a:pPr algn="l">
              <a:lnSpc>
                <a:spcPts val="1931"/>
              </a:lnSpc>
            </a:pPr>
            <a:r>
              <a:rPr lang="en-US" sz="1839" spc="62">
                <a:solidFill>
                  <a:srgbClr val="FFFFFF"/>
                </a:solidFill>
                <a:latin typeface="Poppins"/>
                <a:ea typeface="Poppins"/>
                <a:cs typeface="Poppins"/>
                <a:sym typeface="Poppins"/>
              </a:rPr>
              <a:t>- Dịch vụ Notebook chạy trên trình duyệt, do Google cung cấp. Cậu có thể viết và chạy Python mà không cần tự cài đặt toàn bộ môi trường trên máy tính. </a:t>
            </a:r>
          </a:p>
          <a:p>
            <a:pPr algn="l">
              <a:lnSpc>
                <a:spcPts val="2456"/>
              </a:lnSpc>
            </a:pPr>
          </a:p>
          <a:p>
            <a:pPr algn="l">
              <a:lnSpc>
                <a:spcPts val="2456"/>
              </a:lnSpc>
              <a:spcBef>
                <a:spcPct val="0"/>
              </a:spcBef>
            </a:pPr>
          </a:p>
        </p:txBody>
      </p:sp>
      <p:sp>
        <p:nvSpPr>
          <p:cNvPr name="TextBox 14" id="14"/>
          <p:cNvSpPr txBox="true"/>
          <p:nvPr/>
        </p:nvSpPr>
        <p:spPr>
          <a:xfrm rot="0">
            <a:off x="5559413" y="3748734"/>
            <a:ext cx="6345251" cy="339848"/>
          </a:xfrm>
          <a:prstGeom prst="rect">
            <a:avLst/>
          </a:prstGeom>
        </p:spPr>
        <p:txBody>
          <a:bodyPr anchor="t" rtlCol="false" tIns="0" lIns="0" bIns="0" rIns="0">
            <a:spAutoFit/>
          </a:bodyPr>
          <a:lstStyle/>
          <a:p>
            <a:pPr algn="l">
              <a:lnSpc>
                <a:spcPts val="2456"/>
              </a:lnSpc>
              <a:spcBef>
                <a:spcPct val="0"/>
              </a:spcBef>
            </a:pPr>
            <a:r>
              <a:rPr lang="en-US" b="true" sz="2339" spc="79">
                <a:solidFill>
                  <a:srgbClr val="FFFFFF"/>
                </a:solidFill>
                <a:latin typeface="Poppins Bold"/>
                <a:ea typeface="Poppins Bold"/>
                <a:cs typeface="Poppins Bold"/>
                <a:sym typeface="Poppins Bold"/>
              </a:rPr>
              <a:t>4. Kaggle</a:t>
            </a:r>
          </a:p>
        </p:txBody>
      </p:sp>
      <p:sp>
        <p:nvSpPr>
          <p:cNvPr name="TextBox 15" id="15"/>
          <p:cNvSpPr txBox="true"/>
          <p:nvPr/>
        </p:nvSpPr>
        <p:spPr>
          <a:xfrm rot="0">
            <a:off x="5559413" y="4374332"/>
            <a:ext cx="6345251" cy="739899"/>
          </a:xfrm>
          <a:prstGeom prst="rect">
            <a:avLst/>
          </a:prstGeom>
        </p:spPr>
        <p:txBody>
          <a:bodyPr anchor="t" rtlCol="false" tIns="0" lIns="0" bIns="0" rIns="0">
            <a:spAutoFit/>
          </a:bodyPr>
          <a:lstStyle/>
          <a:p>
            <a:pPr algn="l">
              <a:lnSpc>
                <a:spcPts val="1931"/>
              </a:lnSpc>
              <a:spcBef>
                <a:spcPct val="0"/>
              </a:spcBef>
            </a:pPr>
            <a:r>
              <a:rPr lang="en-US" sz="1839" spc="62">
                <a:solidFill>
                  <a:srgbClr val="FFFFFF"/>
                </a:solidFill>
                <a:latin typeface="Poppins"/>
                <a:ea typeface="Poppins"/>
                <a:cs typeface="Poppins"/>
                <a:sym typeface="Poppins"/>
              </a:rPr>
              <a:t>- Nền tảng cộng đồng khoa học dữ liệu, cung cấp dataset, Notebook trực tuyến, cuộc thi Machine Learning và môi trường để chia sẻ dự án. </a:t>
            </a:r>
          </a:p>
        </p:txBody>
      </p:sp>
      <p:sp>
        <p:nvSpPr>
          <p:cNvPr name="TextBox 16" id="16"/>
          <p:cNvSpPr txBox="true"/>
          <p:nvPr/>
        </p:nvSpPr>
        <p:spPr>
          <a:xfrm rot="0">
            <a:off x="5559413" y="5667981"/>
            <a:ext cx="6345251" cy="339848"/>
          </a:xfrm>
          <a:prstGeom prst="rect">
            <a:avLst/>
          </a:prstGeom>
        </p:spPr>
        <p:txBody>
          <a:bodyPr anchor="t" rtlCol="false" tIns="0" lIns="0" bIns="0" rIns="0">
            <a:spAutoFit/>
          </a:bodyPr>
          <a:lstStyle/>
          <a:p>
            <a:pPr algn="l">
              <a:lnSpc>
                <a:spcPts val="2456"/>
              </a:lnSpc>
              <a:spcBef>
                <a:spcPct val="0"/>
              </a:spcBef>
            </a:pPr>
            <a:r>
              <a:rPr lang="en-US" b="true" sz="2339" spc="79">
                <a:solidFill>
                  <a:srgbClr val="FFFFFF"/>
                </a:solidFill>
                <a:latin typeface="Poppins Bold"/>
                <a:ea typeface="Poppins Bold"/>
                <a:cs typeface="Poppins Bold"/>
                <a:sym typeface="Poppins Bold"/>
              </a:rPr>
              <a:t>5. Hugging Face</a:t>
            </a:r>
          </a:p>
        </p:txBody>
      </p:sp>
      <p:sp>
        <p:nvSpPr>
          <p:cNvPr name="TextBox 17" id="17"/>
          <p:cNvSpPr txBox="true"/>
          <p:nvPr/>
        </p:nvSpPr>
        <p:spPr>
          <a:xfrm rot="0">
            <a:off x="5559413" y="6390596"/>
            <a:ext cx="6345251" cy="1454274"/>
          </a:xfrm>
          <a:prstGeom prst="rect">
            <a:avLst/>
          </a:prstGeom>
        </p:spPr>
        <p:txBody>
          <a:bodyPr anchor="t" rtlCol="false" tIns="0" lIns="0" bIns="0" rIns="0">
            <a:spAutoFit/>
          </a:bodyPr>
          <a:lstStyle/>
          <a:p>
            <a:pPr algn="l">
              <a:lnSpc>
                <a:spcPts val="1931"/>
              </a:lnSpc>
            </a:pPr>
            <a:r>
              <a:rPr lang="en-US" sz="1839" spc="62">
                <a:solidFill>
                  <a:srgbClr val="FFFFFF"/>
                </a:solidFill>
                <a:latin typeface="Poppins"/>
                <a:ea typeface="Poppins"/>
                <a:cs typeface="Poppins"/>
                <a:sym typeface="Poppins"/>
              </a:rPr>
              <a:t>- Hugging Face là một nền tảng và hệ sinh thái công cụ mã nguồn mở dành cho Machine Learning và AI, đặc biệt nổi bật với các mô hình AI được chia sẻ công khai. </a:t>
            </a:r>
          </a:p>
          <a:p>
            <a:pPr algn="l">
              <a:lnSpc>
                <a:spcPts val="1931"/>
              </a:lnSpc>
            </a:pPr>
          </a:p>
          <a:p>
            <a:pPr algn="l">
              <a:lnSpc>
                <a:spcPts val="1931"/>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40055" y="9304465"/>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47033" y="2811166"/>
            <a:ext cx="7374740" cy="2421096"/>
          </a:xfrm>
          <a:prstGeom prst="rect">
            <a:avLst/>
          </a:prstGeom>
        </p:spPr>
        <p:txBody>
          <a:bodyPr anchor="t" rtlCol="false" tIns="0" lIns="0" bIns="0" rIns="0">
            <a:spAutoFit/>
          </a:bodyPr>
          <a:lstStyle/>
          <a:p>
            <a:pPr algn="l">
              <a:lnSpc>
                <a:spcPts val="4663"/>
              </a:lnSpc>
            </a:pPr>
            <a:r>
              <a:rPr lang="en-US" sz="4441" b="true">
                <a:solidFill>
                  <a:srgbClr val="FFFFFF"/>
                </a:solidFill>
                <a:latin typeface="TT Lakes Neue Expanded Bold"/>
                <a:ea typeface="TT Lakes Neue Expanded Bold"/>
                <a:cs typeface="TT Lakes Neue Expanded Bold"/>
                <a:sym typeface="TT Lakes Neue Expanded Bold"/>
              </a:rPr>
              <a:t>TÌM HIỂU NGUỒN DỮ LIỆU (DATA SOURCES).</a:t>
            </a:r>
          </a:p>
          <a:p>
            <a:pPr algn="l">
              <a:lnSpc>
                <a:spcPts val="4978"/>
              </a:lnSpc>
            </a:pPr>
          </a:p>
        </p:txBody>
      </p:sp>
      <p:sp>
        <p:nvSpPr>
          <p:cNvPr name="Freeform 8" id="8"/>
          <p:cNvSpPr/>
          <p:nvPr/>
        </p:nvSpPr>
        <p:spPr>
          <a:xfrm flipH="false" flipV="false" rot="0">
            <a:off x="1165601" y="4635717"/>
            <a:ext cx="7315200" cy="3670900"/>
          </a:xfrm>
          <a:custGeom>
            <a:avLst/>
            <a:gdLst/>
            <a:ahLst/>
            <a:cxnLst/>
            <a:rect r="r" b="b" t="t" l="l"/>
            <a:pathLst>
              <a:path h="3670900" w="7315200">
                <a:moveTo>
                  <a:pt x="0" y="0"/>
                </a:moveTo>
                <a:lnTo>
                  <a:pt x="7315200" y="0"/>
                </a:lnTo>
                <a:lnTo>
                  <a:pt x="7315200" y="3670901"/>
                </a:lnTo>
                <a:lnTo>
                  <a:pt x="0" y="36709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7755096" y="1350319"/>
            <a:ext cx="11110293" cy="7763884"/>
            <a:chOff x="0" y="0"/>
            <a:chExt cx="2926168" cy="2044809"/>
          </a:xfrm>
        </p:grpSpPr>
        <p:sp>
          <p:nvSpPr>
            <p:cNvPr name="Freeform 10" id="10"/>
            <p:cNvSpPr/>
            <p:nvPr/>
          </p:nvSpPr>
          <p:spPr>
            <a:xfrm flipH="false" flipV="false" rot="0">
              <a:off x="0" y="0"/>
              <a:ext cx="2926168" cy="2044809"/>
            </a:xfrm>
            <a:custGeom>
              <a:avLst/>
              <a:gdLst/>
              <a:ahLst/>
              <a:cxnLst/>
              <a:rect r="r" b="b" t="t" l="l"/>
              <a:pathLst>
                <a:path h="2044809" w="2926168">
                  <a:moveTo>
                    <a:pt x="17421" y="0"/>
                  </a:moveTo>
                  <a:lnTo>
                    <a:pt x="2908747" y="0"/>
                  </a:lnTo>
                  <a:cubicBezTo>
                    <a:pt x="2918368" y="0"/>
                    <a:pt x="2926168" y="7799"/>
                    <a:pt x="2926168" y="17421"/>
                  </a:cubicBezTo>
                  <a:lnTo>
                    <a:pt x="2926168" y="2027388"/>
                  </a:lnTo>
                  <a:cubicBezTo>
                    <a:pt x="2926168" y="2037010"/>
                    <a:pt x="2918368" y="2044809"/>
                    <a:pt x="2908747" y="2044809"/>
                  </a:cubicBezTo>
                  <a:lnTo>
                    <a:pt x="17421" y="2044809"/>
                  </a:lnTo>
                  <a:cubicBezTo>
                    <a:pt x="7799" y="2044809"/>
                    <a:pt x="0" y="2037010"/>
                    <a:pt x="0" y="2027388"/>
                  </a:cubicBezTo>
                  <a:lnTo>
                    <a:pt x="0" y="17421"/>
                  </a:lnTo>
                  <a:cubicBezTo>
                    <a:pt x="0" y="7799"/>
                    <a:pt x="7799" y="0"/>
                    <a:pt x="17421"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5400000"/>
            </a:gradFill>
            <a:ln w="47625" cap="rnd">
              <a:solidFill>
                <a:srgbClr val="F0F7FE"/>
              </a:solidFill>
              <a:prstDash val="solid"/>
              <a:round/>
            </a:ln>
          </p:spPr>
        </p:sp>
        <p:sp>
          <p:nvSpPr>
            <p:cNvPr name="TextBox 11" id="11"/>
            <p:cNvSpPr txBox="true"/>
            <p:nvPr/>
          </p:nvSpPr>
          <p:spPr>
            <a:xfrm>
              <a:off x="0" y="28575"/>
              <a:ext cx="2926168" cy="2016234"/>
            </a:xfrm>
            <a:prstGeom prst="rect">
              <a:avLst/>
            </a:prstGeom>
          </p:spPr>
          <p:txBody>
            <a:bodyPr anchor="ctr" rtlCol="false" tIns="50800" lIns="50800" bIns="50800" rIns="50800"/>
            <a:lstStyle/>
            <a:p>
              <a:pPr algn="ctr">
                <a:lnSpc>
                  <a:spcPts val="1826"/>
                </a:lnSpc>
              </a:pPr>
            </a:p>
          </p:txBody>
        </p:sp>
      </p:grpSp>
      <p:sp>
        <p:nvSpPr>
          <p:cNvPr name="TextBox 12" id="12"/>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grpSp>
        <p:nvGrpSpPr>
          <p:cNvPr name="Group 13" id="13"/>
          <p:cNvGrpSpPr/>
          <p:nvPr/>
        </p:nvGrpSpPr>
        <p:grpSpPr>
          <a:xfrm rot="0">
            <a:off x="8480801" y="1907828"/>
            <a:ext cx="4829442" cy="748374"/>
            <a:chOff x="0" y="0"/>
            <a:chExt cx="1271952" cy="197103"/>
          </a:xfrm>
        </p:grpSpPr>
        <p:sp>
          <p:nvSpPr>
            <p:cNvPr name="Freeform 14" id="14"/>
            <p:cNvSpPr/>
            <p:nvPr/>
          </p:nvSpPr>
          <p:spPr>
            <a:xfrm flipH="false" flipV="false" rot="0">
              <a:off x="0" y="0"/>
              <a:ext cx="1271952" cy="197103"/>
            </a:xfrm>
            <a:custGeom>
              <a:avLst/>
              <a:gdLst/>
              <a:ahLst/>
              <a:cxnLst/>
              <a:rect r="r" b="b" t="t" l="l"/>
              <a:pathLst>
                <a:path h="197103" w="1271952">
                  <a:moveTo>
                    <a:pt x="40077" y="0"/>
                  </a:moveTo>
                  <a:lnTo>
                    <a:pt x="1231875" y="0"/>
                  </a:lnTo>
                  <a:cubicBezTo>
                    <a:pt x="1254009" y="0"/>
                    <a:pt x="1271952" y="17943"/>
                    <a:pt x="1271952" y="40077"/>
                  </a:cubicBezTo>
                  <a:lnTo>
                    <a:pt x="1271952" y="157026"/>
                  </a:lnTo>
                  <a:cubicBezTo>
                    <a:pt x="1271952" y="179160"/>
                    <a:pt x="1254009" y="197103"/>
                    <a:pt x="1231875" y="197103"/>
                  </a:cubicBezTo>
                  <a:lnTo>
                    <a:pt x="40077" y="197103"/>
                  </a:lnTo>
                  <a:cubicBezTo>
                    <a:pt x="17943" y="197103"/>
                    <a:pt x="0" y="179160"/>
                    <a:pt x="0" y="157026"/>
                  </a:cubicBezTo>
                  <a:lnTo>
                    <a:pt x="0" y="40077"/>
                  </a:lnTo>
                  <a:cubicBezTo>
                    <a:pt x="0" y="17943"/>
                    <a:pt x="17943" y="0"/>
                    <a:pt x="4007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5" id="15"/>
            <p:cNvSpPr txBox="true"/>
            <p:nvPr/>
          </p:nvSpPr>
          <p:spPr>
            <a:xfrm>
              <a:off x="0" y="28575"/>
              <a:ext cx="1271952" cy="168528"/>
            </a:xfrm>
            <a:prstGeom prst="rect">
              <a:avLst/>
            </a:prstGeom>
          </p:spPr>
          <p:txBody>
            <a:bodyPr anchor="ctr" rtlCol="false" tIns="50800" lIns="50800" bIns="50800" rIns="50800"/>
            <a:lstStyle/>
            <a:p>
              <a:pPr algn="ctr">
                <a:lnSpc>
                  <a:spcPts val="1826"/>
                </a:lnSpc>
              </a:pPr>
            </a:p>
          </p:txBody>
        </p:sp>
      </p:grpSp>
      <p:sp>
        <p:nvSpPr>
          <p:cNvPr name="Freeform 16" id="16"/>
          <p:cNvSpPr/>
          <p:nvPr/>
        </p:nvSpPr>
        <p:spPr>
          <a:xfrm flipH="false" flipV="false" rot="0">
            <a:off x="8666632" y="2024422"/>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9127459" y="2138956"/>
            <a:ext cx="4182783" cy="859913"/>
          </a:xfrm>
          <a:prstGeom prst="rect">
            <a:avLst/>
          </a:prstGeom>
        </p:spPr>
        <p:txBody>
          <a:bodyPr anchor="t" rtlCol="false" tIns="0" lIns="0" bIns="0" rIns="0">
            <a:spAutoFit/>
          </a:bodyPr>
          <a:lstStyle/>
          <a:p>
            <a:pPr algn="just">
              <a:lnSpc>
                <a:spcPts val="2246"/>
              </a:lnSpc>
            </a:pPr>
            <a:r>
              <a:rPr lang="en-US" b="true" sz="2139" spc="72">
                <a:solidFill>
                  <a:srgbClr val="FFFFFF"/>
                </a:solidFill>
                <a:latin typeface="Poppins Bold"/>
                <a:ea typeface="Poppins Bold"/>
                <a:cs typeface="Poppins Bold"/>
                <a:sym typeface="Poppins Bold"/>
              </a:rPr>
              <a:t>DATA SOURCE LÀ GÌ? </a:t>
            </a:r>
          </a:p>
          <a:p>
            <a:pPr algn="just">
              <a:lnSpc>
                <a:spcPts val="2246"/>
              </a:lnSpc>
            </a:pPr>
          </a:p>
          <a:p>
            <a:pPr algn="just">
              <a:lnSpc>
                <a:spcPts val="2246"/>
              </a:lnSpc>
              <a:spcBef>
                <a:spcPct val="0"/>
              </a:spcBef>
            </a:pPr>
          </a:p>
        </p:txBody>
      </p:sp>
      <p:sp>
        <p:nvSpPr>
          <p:cNvPr name="TextBox 18" id="18"/>
          <p:cNvSpPr txBox="true"/>
          <p:nvPr/>
        </p:nvSpPr>
        <p:spPr>
          <a:xfrm rot="0">
            <a:off x="8480801" y="2959105"/>
            <a:ext cx="8778499" cy="1512376"/>
          </a:xfrm>
          <a:prstGeom prst="rect">
            <a:avLst/>
          </a:prstGeom>
        </p:spPr>
        <p:txBody>
          <a:bodyPr anchor="t" rtlCol="false" tIns="0" lIns="0" bIns="0" rIns="0">
            <a:spAutoFit/>
          </a:bodyPr>
          <a:lstStyle/>
          <a:p>
            <a:pPr algn="just">
              <a:lnSpc>
                <a:spcPts val="2141"/>
              </a:lnSpc>
            </a:pPr>
            <a:r>
              <a:rPr lang="en-US" sz="2039" spc="69">
                <a:solidFill>
                  <a:srgbClr val="FFFFFF"/>
                </a:solidFill>
                <a:latin typeface="Poppins"/>
                <a:ea typeface="Poppins"/>
                <a:cs typeface="Poppins"/>
                <a:sym typeface="Poppins"/>
              </a:rPr>
              <a:t>- Data Source (nguồn dữ liệu) là nơi cung cấp dữ liệu để thu thập, lưu trữ, phân tích hoặc sử dụng trong các hệ thống phần mềm và AI. </a:t>
            </a:r>
          </a:p>
          <a:p>
            <a:pPr algn="just">
              <a:lnSpc>
                <a:spcPts val="1826"/>
              </a:lnSpc>
            </a:pPr>
          </a:p>
          <a:p>
            <a:pPr algn="just">
              <a:lnSpc>
                <a:spcPts val="1826"/>
              </a:lnSpc>
            </a:pPr>
          </a:p>
          <a:p>
            <a:pPr algn="just">
              <a:lnSpc>
                <a:spcPts val="1826"/>
              </a:lnSpc>
              <a:spcBef>
                <a:spcPct val="0"/>
              </a:spcBef>
            </a:pPr>
          </a:p>
        </p:txBody>
      </p:sp>
      <p:grpSp>
        <p:nvGrpSpPr>
          <p:cNvPr name="Group 19" id="19"/>
          <p:cNvGrpSpPr/>
          <p:nvPr/>
        </p:nvGrpSpPr>
        <p:grpSpPr>
          <a:xfrm rot="0">
            <a:off x="8480801" y="4281377"/>
            <a:ext cx="4829442" cy="748374"/>
            <a:chOff x="0" y="0"/>
            <a:chExt cx="1271952" cy="197103"/>
          </a:xfrm>
        </p:grpSpPr>
        <p:sp>
          <p:nvSpPr>
            <p:cNvPr name="Freeform 20" id="20"/>
            <p:cNvSpPr/>
            <p:nvPr/>
          </p:nvSpPr>
          <p:spPr>
            <a:xfrm flipH="false" flipV="false" rot="0">
              <a:off x="0" y="0"/>
              <a:ext cx="1271952" cy="197103"/>
            </a:xfrm>
            <a:custGeom>
              <a:avLst/>
              <a:gdLst/>
              <a:ahLst/>
              <a:cxnLst/>
              <a:rect r="r" b="b" t="t" l="l"/>
              <a:pathLst>
                <a:path h="197103" w="1271952">
                  <a:moveTo>
                    <a:pt x="40077" y="0"/>
                  </a:moveTo>
                  <a:lnTo>
                    <a:pt x="1231875" y="0"/>
                  </a:lnTo>
                  <a:cubicBezTo>
                    <a:pt x="1254009" y="0"/>
                    <a:pt x="1271952" y="17943"/>
                    <a:pt x="1271952" y="40077"/>
                  </a:cubicBezTo>
                  <a:lnTo>
                    <a:pt x="1271952" y="157026"/>
                  </a:lnTo>
                  <a:cubicBezTo>
                    <a:pt x="1271952" y="179160"/>
                    <a:pt x="1254009" y="197103"/>
                    <a:pt x="1231875" y="197103"/>
                  </a:cubicBezTo>
                  <a:lnTo>
                    <a:pt x="40077" y="197103"/>
                  </a:lnTo>
                  <a:cubicBezTo>
                    <a:pt x="17943" y="197103"/>
                    <a:pt x="0" y="179160"/>
                    <a:pt x="0" y="157026"/>
                  </a:cubicBezTo>
                  <a:lnTo>
                    <a:pt x="0" y="40077"/>
                  </a:lnTo>
                  <a:cubicBezTo>
                    <a:pt x="0" y="17943"/>
                    <a:pt x="17943" y="0"/>
                    <a:pt x="4007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1" id="21"/>
            <p:cNvSpPr txBox="true"/>
            <p:nvPr/>
          </p:nvSpPr>
          <p:spPr>
            <a:xfrm>
              <a:off x="0" y="28575"/>
              <a:ext cx="1271952" cy="168528"/>
            </a:xfrm>
            <a:prstGeom prst="rect">
              <a:avLst/>
            </a:prstGeom>
          </p:spPr>
          <p:txBody>
            <a:bodyPr anchor="ctr" rtlCol="false" tIns="50800" lIns="50800" bIns="50800" rIns="50800"/>
            <a:lstStyle/>
            <a:p>
              <a:pPr algn="ctr">
                <a:lnSpc>
                  <a:spcPts val="1826"/>
                </a:lnSpc>
              </a:pPr>
            </a:p>
          </p:txBody>
        </p:sp>
      </p:grpSp>
      <p:sp>
        <p:nvSpPr>
          <p:cNvPr name="Freeform 22" id="22"/>
          <p:cNvSpPr/>
          <p:nvPr/>
        </p:nvSpPr>
        <p:spPr>
          <a:xfrm flipH="false" flipV="false" rot="0">
            <a:off x="8666632" y="4397971"/>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9127459" y="4407496"/>
            <a:ext cx="3038854" cy="583688"/>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DỮ LIỆU CÓ THỂ ĐẾN TỪ  ĐÂU?</a:t>
            </a:r>
          </a:p>
        </p:txBody>
      </p:sp>
      <p:grpSp>
        <p:nvGrpSpPr>
          <p:cNvPr name="Group 24" id="24"/>
          <p:cNvGrpSpPr/>
          <p:nvPr/>
        </p:nvGrpSpPr>
        <p:grpSpPr>
          <a:xfrm rot="0">
            <a:off x="8480801" y="6680247"/>
            <a:ext cx="4829442" cy="748374"/>
            <a:chOff x="0" y="0"/>
            <a:chExt cx="1271952" cy="197103"/>
          </a:xfrm>
        </p:grpSpPr>
        <p:sp>
          <p:nvSpPr>
            <p:cNvPr name="Freeform 25" id="25"/>
            <p:cNvSpPr/>
            <p:nvPr/>
          </p:nvSpPr>
          <p:spPr>
            <a:xfrm flipH="false" flipV="false" rot="0">
              <a:off x="0" y="0"/>
              <a:ext cx="1271952" cy="197103"/>
            </a:xfrm>
            <a:custGeom>
              <a:avLst/>
              <a:gdLst/>
              <a:ahLst/>
              <a:cxnLst/>
              <a:rect r="r" b="b" t="t" l="l"/>
              <a:pathLst>
                <a:path h="197103" w="1271952">
                  <a:moveTo>
                    <a:pt x="40077" y="0"/>
                  </a:moveTo>
                  <a:lnTo>
                    <a:pt x="1231875" y="0"/>
                  </a:lnTo>
                  <a:cubicBezTo>
                    <a:pt x="1254009" y="0"/>
                    <a:pt x="1271952" y="17943"/>
                    <a:pt x="1271952" y="40077"/>
                  </a:cubicBezTo>
                  <a:lnTo>
                    <a:pt x="1271952" y="157026"/>
                  </a:lnTo>
                  <a:cubicBezTo>
                    <a:pt x="1271952" y="179160"/>
                    <a:pt x="1254009" y="197103"/>
                    <a:pt x="1231875" y="197103"/>
                  </a:cubicBezTo>
                  <a:lnTo>
                    <a:pt x="40077" y="197103"/>
                  </a:lnTo>
                  <a:cubicBezTo>
                    <a:pt x="17943" y="197103"/>
                    <a:pt x="0" y="179160"/>
                    <a:pt x="0" y="157026"/>
                  </a:cubicBezTo>
                  <a:lnTo>
                    <a:pt x="0" y="40077"/>
                  </a:lnTo>
                  <a:cubicBezTo>
                    <a:pt x="0" y="17943"/>
                    <a:pt x="17943" y="0"/>
                    <a:pt x="4007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6" id="26"/>
            <p:cNvSpPr txBox="true"/>
            <p:nvPr/>
          </p:nvSpPr>
          <p:spPr>
            <a:xfrm>
              <a:off x="0" y="28575"/>
              <a:ext cx="1271952" cy="168528"/>
            </a:xfrm>
            <a:prstGeom prst="rect">
              <a:avLst/>
            </a:prstGeom>
          </p:spPr>
          <p:txBody>
            <a:bodyPr anchor="ctr" rtlCol="false" tIns="50800" lIns="50800" bIns="50800" rIns="50800"/>
            <a:lstStyle/>
            <a:p>
              <a:pPr algn="ctr">
                <a:lnSpc>
                  <a:spcPts val="1826"/>
                </a:lnSpc>
              </a:pPr>
            </a:p>
          </p:txBody>
        </p:sp>
      </p:grpSp>
      <p:sp>
        <p:nvSpPr>
          <p:cNvPr name="Freeform 27" id="27"/>
          <p:cNvSpPr/>
          <p:nvPr/>
        </p:nvSpPr>
        <p:spPr>
          <a:xfrm flipH="false" flipV="false" rot="0">
            <a:off x="8666632" y="6796841"/>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8" id="28"/>
          <p:cNvSpPr txBox="true"/>
          <p:nvPr/>
        </p:nvSpPr>
        <p:spPr>
          <a:xfrm rot="0">
            <a:off x="9127459" y="6911375"/>
            <a:ext cx="3038854"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TẦM QUAN TRỌNG </a:t>
            </a:r>
          </a:p>
        </p:txBody>
      </p:sp>
      <p:sp>
        <p:nvSpPr>
          <p:cNvPr name="TextBox 29" id="29"/>
          <p:cNvSpPr txBox="true"/>
          <p:nvPr/>
        </p:nvSpPr>
        <p:spPr>
          <a:xfrm rot="0">
            <a:off x="8480801" y="7731524"/>
            <a:ext cx="8778499" cy="709419"/>
          </a:xfrm>
          <a:prstGeom prst="rect">
            <a:avLst/>
          </a:prstGeom>
        </p:spPr>
        <p:txBody>
          <a:bodyPr anchor="t" rtlCol="false" tIns="0" lIns="0" bIns="0" rIns="0">
            <a:spAutoFit/>
          </a:bodyPr>
          <a:lstStyle/>
          <a:p>
            <a:pPr algn="l">
              <a:lnSpc>
                <a:spcPts val="1826"/>
              </a:lnSpc>
              <a:spcBef>
                <a:spcPct val="0"/>
              </a:spcBef>
            </a:pPr>
            <a:r>
              <a:rPr lang="en-US" sz="1739" spc="59">
                <a:solidFill>
                  <a:srgbClr val="FFFFFF"/>
                </a:solidFill>
                <a:latin typeface="Poppins"/>
                <a:ea typeface="Poppins"/>
                <a:cs typeface="Poppins"/>
                <a:sym typeface="Poppins"/>
              </a:rPr>
              <a:t>- Trong AI, việc lựa chọn nguồn dữ liệu phù hợp rất quan trọng. Dữ liệu cần liên quan đến bài toán, có chất lượng tốt và được sử dụng theo đúng điều kiện cấp phép. </a:t>
            </a:r>
          </a:p>
        </p:txBody>
      </p:sp>
      <p:sp>
        <p:nvSpPr>
          <p:cNvPr name="TextBox 30" id="30"/>
          <p:cNvSpPr txBox="true"/>
          <p:nvPr/>
        </p:nvSpPr>
        <p:spPr>
          <a:xfrm rot="0">
            <a:off x="8480801" y="5241786"/>
            <a:ext cx="8778499" cy="709419"/>
          </a:xfrm>
          <a:prstGeom prst="rect">
            <a:avLst/>
          </a:prstGeom>
        </p:spPr>
        <p:txBody>
          <a:bodyPr anchor="t" rtlCol="false" tIns="0" lIns="0" bIns="0" rIns="0">
            <a:spAutoFit/>
          </a:bodyPr>
          <a:lstStyle/>
          <a:p>
            <a:pPr algn="just">
              <a:lnSpc>
                <a:spcPts val="1826"/>
              </a:lnSpc>
            </a:pPr>
            <a:r>
              <a:rPr lang="en-US" sz="1739" spc="59">
                <a:solidFill>
                  <a:srgbClr val="FFFFFF"/>
                </a:solidFill>
                <a:latin typeface="Poppins"/>
                <a:ea typeface="Poppins"/>
                <a:cs typeface="Poppins"/>
                <a:sym typeface="Poppins"/>
              </a:rPr>
              <a:t>- Từ các website và nền tảng chia sẻ dữ liệu, các cơ quan nhà nước, API, ...</a:t>
            </a:r>
          </a:p>
          <a:p>
            <a:pPr algn="just">
              <a:lnSpc>
                <a:spcPts val="1826"/>
              </a:lnSpc>
            </a:pPr>
          </a:p>
          <a:p>
            <a:pPr algn="just">
              <a:lnSpc>
                <a:spcPts val="1826"/>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81321" y="-801625"/>
            <a:ext cx="11706247" cy="11706247"/>
          </a:xfrm>
          <a:custGeom>
            <a:avLst/>
            <a:gdLst/>
            <a:ahLst/>
            <a:cxnLst/>
            <a:rect r="r" b="b" t="t" l="l"/>
            <a:pathLst>
              <a:path h="11706247" w="11706247">
                <a:moveTo>
                  <a:pt x="0" y="0"/>
                </a:moveTo>
                <a:lnTo>
                  <a:pt x="11706247" y="0"/>
                </a:lnTo>
                <a:lnTo>
                  <a:pt x="11706247" y="11706247"/>
                </a:lnTo>
                <a:lnTo>
                  <a:pt x="0" y="117062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390656" y="-1681809"/>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6"/>
            <a:stretch>
              <a:fillRect l="0" t="0" r="0" b="0"/>
            </a:stretch>
          </a:blipFill>
        </p:spPr>
      </p:sp>
      <p:sp>
        <p:nvSpPr>
          <p:cNvPr name="Freeform 8" id="8"/>
          <p:cNvSpPr/>
          <p:nvPr/>
        </p:nvSpPr>
        <p:spPr>
          <a:xfrm flipH="false" flipV="false" rot="0">
            <a:off x="8751088" y="8930734"/>
            <a:ext cx="549282" cy="549282"/>
          </a:xfrm>
          <a:custGeom>
            <a:avLst/>
            <a:gdLst/>
            <a:ahLst/>
            <a:cxnLst/>
            <a:rect r="r" b="b" t="t" l="l"/>
            <a:pathLst>
              <a:path h="549282" w="549282">
                <a:moveTo>
                  <a:pt x="0" y="0"/>
                </a:moveTo>
                <a:lnTo>
                  <a:pt x="549283" y="0"/>
                </a:lnTo>
                <a:lnTo>
                  <a:pt x="549283" y="549283"/>
                </a:lnTo>
                <a:lnTo>
                  <a:pt x="0" y="5492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2719397" y="5833143"/>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6"/>
            <a:stretch>
              <a:fillRect l="0" t="0" r="0" b="0"/>
            </a:stretch>
          </a:blipFill>
        </p:spPr>
      </p:sp>
      <p:sp>
        <p:nvSpPr>
          <p:cNvPr name="Freeform 10" id="10"/>
          <p:cNvSpPr/>
          <p:nvPr/>
        </p:nvSpPr>
        <p:spPr>
          <a:xfrm flipH="false" flipV="false" rot="0">
            <a:off x="11485668" y="2228094"/>
            <a:ext cx="4616098" cy="6315558"/>
          </a:xfrm>
          <a:custGeom>
            <a:avLst/>
            <a:gdLst/>
            <a:ahLst/>
            <a:cxnLst/>
            <a:rect r="r" b="b" t="t" l="l"/>
            <a:pathLst>
              <a:path h="6315558" w="4616098">
                <a:moveTo>
                  <a:pt x="0" y="0"/>
                </a:moveTo>
                <a:lnTo>
                  <a:pt x="4616098" y="0"/>
                </a:lnTo>
                <a:lnTo>
                  <a:pt x="4616098" y="6315558"/>
                </a:lnTo>
                <a:lnTo>
                  <a:pt x="0" y="63155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2" id="12"/>
          <p:cNvSpPr txBox="true"/>
          <p:nvPr/>
        </p:nvSpPr>
        <p:spPr>
          <a:xfrm rot="0">
            <a:off x="578975" y="1829606"/>
            <a:ext cx="11069562" cy="1909603"/>
          </a:xfrm>
          <a:prstGeom prst="rect">
            <a:avLst/>
          </a:prstGeom>
        </p:spPr>
        <p:txBody>
          <a:bodyPr anchor="t" rtlCol="false" tIns="0" lIns="0" bIns="0" rIns="0">
            <a:spAutoFit/>
          </a:bodyPr>
          <a:lstStyle/>
          <a:p>
            <a:pPr algn="l">
              <a:lnSpc>
                <a:spcPts val="4978"/>
              </a:lnSpc>
            </a:pPr>
            <a:r>
              <a:rPr lang="en-US" sz="4741" b="true">
                <a:solidFill>
                  <a:srgbClr val="FFFFFF"/>
                </a:solidFill>
                <a:latin typeface="TT Lakes Neue Expanded Bold"/>
                <a:ea typeface="TT Lakes Neue Expanded Bold"/>
                <a:cs typeface="TT Lakes Neue Expanded Bold"/>
                <a:sym typeface="TT Lakes Neue Expanded Bold"/>
              </a:rPr>
              <a:t>PHÂN TÍCH DỮ LIỆU SƠ BỘ - EXPLORATORY DATA ANALYSIS (EDA).</a:t>
            </a:r>
          </a:p>
        </p:txBody>
      </p:sp>
      <p:grpSp>
        <p:nvGrpSpPr>
          <p:cNvPr name="Group 13" id="13"/>
          <p:cNvGrpSpPr/>
          <p:nvPr/>
        </p:nvGrpSpPr>
        <p:grpSpPr>
          <a:xfrm rot="0">
            <a:off x="2217275" y="3949577"/>
            <a:ext cx="8469775" cy="4565845"/>
            <a:chOff x="0" y="0"/>
            <a:chExt cx="1973001" cy="1063596"/>
          </a:xfrm>
        </p:grpSpPr>
        <p:sp>
          <p:nvSpPr>
            <p:cNvPr name="Freeform 14" id="14"/>
            <p:cNvSpPr/>
            <p:nvPr/>
          </p:nvSpPr>
          <p:spPr>
            <a:xfrm flipH="false" flipV="false" rot="0">
              <a:off x="0" y="0"/>
              <a:ext cx="1973001" cy="1063596"/>
            </a:xfrm>
            <a:custGeom>
              <a:avLst/>
              <a:gdLst/>
              <a:ahLst/>
              <a:cxnLst/>
              <a:rect r="r" b="b" t="t" l="l"/>
              <a:pathLst>
                <a:path h="1063596" w="1973001">
                  <a:moveTo>
                    <a:pt x="22852" y="0"/>
                  </a:moveTo>
                  <a:lnTo>
                    <a:pt x="1950150" y="0"/>
                  </a:lnTo>
                  <a:cubicBezTo>
                    <a:pt x="1962770" y="0"/>
                    <a:pt x="1973001" y="10231"/>
                    <a:pt x="1973001" y="22852"/>
                  </a:cubicBezTo>
                  <a:lnTo>
                    <a:pt x="1973001" y="1040744"/>
                  </a:lnTo>
                  <a:cubicBezTo>
                    <a:pt x="1973001" y="1046805"/>
                    <a:pt x="1970594" y="1052617"/>
                    <a:pt x="1966308" y="1056903"/>
                  </a:cubicBezTo>
                  <a:cubicBezTo>
                    <a:pt x="1962023" y="1061188"/>
                    <a:pt x="1956210" y="1063596"/>
                    <a:pt x="1950150" y="1063596"/>
                  </a:cubicBezTo>
                  <a:lnTo>
                    <a:pt x="22852" y="1063596"/>
                  </a:lnTo>
                  <a:cubicBezTo>
                    <a:pt x="16791" y="1063596"/>
                    <a:pt x="10979" y="1061188"/>
                    <a:pt x="6693" y="1056903"/>
                  </a:cubicBezTo>
                  <a:cubicBezTo>
                    <a:pt x="2408" y="1052617"/>
                    <a:pt x="0" y="1046805"/>
                    <a:pt x="0" y="1040744"/>
                  </a:cubicBezTo>
                  <a:lnTo>
                    <a:pt x="0" y="22852"/>
                  </a:lnTo>
                  <a:cubicBezTo>
                    <a:pt x="0" y="16791"/>
                    <a:pt x="2408" y="10979"/>
                    <a:pt x="6693" y="6693"/>
                  </a:cubicBezTo>
                  <a:cubicBezTo>
                    <a:pt x="10979" y="2408"/>
                    <a:pt x="16791" y="0"/>
                    <a:pt x="22852" y="0"/>
                  </a:cubicBezTo>
                  <a:close/>
                </a:path>
              </a:pathLst>
            </a:custGeom>
            <a:ln w="47625" cap="rnd">
              <a:solidFill>
                <a:srgbClr val="F0F7FE"/>
              </a:solidFill>
              <a:prstDash val="solid"/>
              <a:round/>
            </a:ln>
          </p:spPr>
        </p:sp>
        <p:sp>
          <p:nvSpPr>
            <p:cNvPr name="TextBox 15" id="15"/>
            <p:cNvSpPr txBox="true"/>
            <p:nvPr/>
          </p:nvSpPr>
          <p:spPr>
            <a:xfrm>
              <a:off x="0" y="28575"/>
              <a:ext cx="1973001" cy="1035021"/>
            </a:xfrm>
            <a:prstGeom prst="rect">
              <a:avLst/>
            </a:prstGeom>
          </p:spPr>
          <p:txBody>
            <a:bodyPr anchor="ctr" rtlCol="false" tIns="50800" lIns="50800" bIns="50800" rIns="50800"/>
            <a:lstStyle/>
            <a:p>
              <a:pPr algn="ctr">
                <a:lnSpc>
                  <a:spcPts val="1826"/>
                </a:lnSpc>
              </a:pPr>
            </a:p>
          </p:txBody>
        </p:sp>
      </p:grpSp>
      <p:grpSp>
        <p:nvGrpSpPr>
          <p:cNvPr name="Group 16" id="16"/>
          <p:cNvGrpSpPr/>
          <p:nvPr/>
        </p:nvGrpSpPr>
        <p:grpSpPr>
          <a:xfrm rot="0">
            <a:off x="2217275" y="3949577"/>
            <a:ext cx="1811538" cy="4565845"/>
            <a:chOff x="0" y="0"/>
            <a:chExt cx="421991" cy="1063596"/>
          </a:xfrm>
        </p:grpSpPr>
        <p:sp>
          <p:nvSpPr>
            <p:cNvPr name="Freeform 17" id="17"/>
            <p:cNvSpPr/>
            <p:nvPr/>
          </p:nvSpPr>
          <p:spPr>
            <a:xfrm flipH="false" flipV="false" rot="0">
              <a:off x="0" y="0"/>
              <a:ext cx="421991" cy="1063596"/>
            </a:xfrm>
            <a:custGeom>
              <a:avLst/>
              <a:gdLst/>
              <a:ahLst/>
              <a:cxnLst/>
              <a:rect r="r" b="b" t="t" l="l"/>
              <a:pathLst>
                <a:path h="1063596" w="421991">
                  <a:moveTo>
                    <a:pt x="106842" y="0"/>
                  </a:moveTo>
                  <a:lnTo>
                    <a:pt x="315149" y="0"/>
                  </a:lnTo>
                  <a:cubicBezTo>
                    <a:pt x="343485" y="0"/>
                    <a:pt x="370661" y="11257"/>
                    <a:pt x="390698" y="31293"/>
                  </a:cubicBezTo>
                  <a:cubicBezTo>
                    <a:pt x="410734" y="51330"/>
                    <a:pt x="421991" y="78506"/>
                    <a:pt x="421991" y="106842"/>
                  </a:cubicBezTo>
                  <a:lnTo>
                    <a:pt x="421991" y="956754"/>
                  </a:lnTo>
                  <a:cubicBezTo>
                    <a:pt x="421991" y="985090"/>
                    <a:pt x="410734" y="1012266"/>
                    <a:pt x="390698" y="1032303"/>
                  </a:cubicBezTo>
                  <a:cubicBezTo>
                    <a:pt x="370661" y="1052340"/>
                    <a:pt x="343485" y="1063596"/>
                    <a:pt x="315149" y="1063596"/>
                  </a:cubicBezTo>
                  <a:lnTo>
                    <a:pt x="106842" y="1063596"/>
                  </a:lnTo>
                  <a:cubicBezTo>
                    <a:pt x="78506" y="1063596"/>
                    <a:pt x="51330" y="1052340"/>
                    <a:pt x="31293" y="1032303"/>
                  </a:cubicBezTo>
                  <a:cubicBezTo>
                    <a:pt x="11257" y="1012266"/>
                    <a:pt x="0" y="985090"/>
                    <a:pt x="0" y="956754"/>
                  </a:cubicBezTo>
                  <a:lnTo>
                    <a:pt x="0" y="106842"/>
                  </a:lnTo>
                  <a:cubicBezTo>
                    <a:pt x="0" y="78506"/>
                    <a:pt x="11257" y="51330"/>
                    <a:pt x="31293" y="31293"/>
                  </a:cubicBezTo>
                  <a:cubicBezTo>
                    <a:pt x="51330" y="11257"/>
                    <a:pt x="78506" y="0"/>
                    <a:pt x="106842"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5400000"/>
            </a:gradFill>
            <a:ln w="47625" cap="rnd">
              <a:solidFill>
                <a:srgbClr val="F0F7FE"/>
              </a:solidFill>
              <a:prstDash val="solid"/>
              <a:round/>
            </a:ln>
          </p:spPr>
        </p:sp>
        <p:sp>
          <p:nvSpPr>
            <p:cNvPr name="TextBox 18" id="18"/>
            <p:cNvSpPr txBox="true"/>
            <p:nvPr/>
          </p:nvSpPr>
          <p:spPr>
            <a:xfrm>
              <a:off x="0" y="28575"/>
              <a:ext cx="421991" cy="1035021"/>
            </a:xfrm>
            <a:prstGeom prst="rect">
              <a:avLst/>
            </a:prstGeom>
          </p:spPr>
          <p:txBody>
            <a:bodyPr anchor="ctr" rtlCol="false" tIns="50800" lIns="50800" bIns="50800" rIns="50800"/>
            <a:lstStyle/>
            <a:p>
              <a:pPr algn="ctr">
                <a:lnSpc>
                  <a:spcPts val="1826"/>
                </a:lnSpc>
              </a:pPr>
            </a:p>
          </p:txBody>
        </p:sp>
      </p:grpSp>
      <p:sp>
        <p:nvSpPr>
          <p:cNvPr name="Freeform 19" id="19"/>
          <p:cNvSpPr/>
          <p:nvPr/>
        </p:nvSpPr>
        <p:spPr>
          <a:xfrm flipH="false" flipV="false" rot="0">
            <a:off x="2948082" y="6232499"/>
            <a:ext cx="349924" cy="595845"/>
          </a:xfrm>
          <a:custGeom>
            <a:avLst/>
            <a:gdLst/>
            <a:ahLst/>
            <a:cxnLst/>
            <a:rect r="r" b="b" t="t" l="l"/>
            <a:pathLst>
              <a:path h="595845" w="349924">
                <a:moveTo>
                  <a:pt x="0" y="0"/>
                </a:moveTo>
                <a:lnTo>
                  <a:pt x="349924" y="0"/>
                </a:lnTo>
                <a:lnTo>
                  <a:pt x="349924" y="595845"/>
                </a:lnTo>
                <a:lnTo>
                  <a:pt x="0" y="5958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0" id="20"/>
          <p:cNvSpPr txBox="true"/>
          <p:nvPr/>
        </p:nvSpPr>
        <p:spPr>
          <a:xfrm rot="0">
            <a:off x="4360595" y="4289383"/>
            <a:ext cx="5569578" cy="1412363"/>
          </a:xfrm>
          <a:prstGeom prst="rect">
            <a:avLst/>
          </a:prstGeom>
        </p:spPr>
        <p:txBody>
          <a:bodyPr anchor="t" rtlCol="false" tIns="0" lIns="0" bIns="0" rIns="0">
            <a:spAutoFit/>
          </a:bodyPr>
          <a:lstStyle/>
          <a:p>
            <a:pPr algn="just">
              <a:lnSpc>
                <a:spcPts val="2246"/>
              </a:lnSpc>
            </a:pPr>
            <a:r>
              <a:rPr lang="en-US" sz="2139" spc="72">
                <a:solidFill>
                  <a:srgbClr val="FFFFFF"/>
                </a:solidFill>
                <a:latin typeface="Poppins"/>
                <a:ea typeface="Poppins"/>
                <a:cs typeface="Poppins"/>
                <a:sym typeface="Poppins"/>
              </a:rPr>
              <a:t>- EDA (Exploratory Data Analysis) là quá trình khám phá và phân tích dữ liệu ban đầu. </a:t>
            </a:r>
          </a:p>
          <a:p>
            <a:pPr algn="just">
              <a:lnSpc>
                <a:spcPts val="2246"/>
              </a:lnSpc>
            </a:pPr>
          </a:p>
          <a:p>
            <a:pPr algn="just">
              <a:lnSpc>
                <a:spcPts val="2246"/>
              </a:lnSpc>
              <a:spcBef>
                <a:spcPct val="0"/>
              </a:spcBef>
            </a:pPr>
          </a:p>
        </p:txBody>
      </p:sp>
      <p:sp>
        <p:nvSpPr>
          <p:cNvPr name="TextBox 21" id="21"/>
          <p:cNvSpPr txBox="true"/>
          <p:nvPr/>
        </p:nvSpPr>
        <p:spPr>
          <a:xfrm rot="0">
            <a:off x="4360595" y="6302613"/>
            <a:ext cx="5569578" cy="1412363"/>
          </a:xfrm>
          <a:prstGeom prst="rect">
            <a:avLst/>
          </a:prstGeom>
        </p:spPr>
        <p:txBody>
          <a:bodyPr anchor="t" rtlCol="false" tIns="0" lIns="0" bIns="0" rIns="0">
            <a:spAutoFit/>
          </a:bodyPr>
          <a:lstStyle/>
          <a:p>
            <a:pPr algn="just">
              <a:lnSpc>
                <a:spcPts val="2246"/>
              </a:lnSpc>
            </a:pPr>
            <a:r>
              <a:rPr lang="en-US" sz="2139" spc="72">
                <a:solidFill>
                  <a:srgbClr val="FFFFFF"/>
                </a:solidFill>
                <a:latin typeface="Poppins"/>
                <a:ea typeface="Poppins"/>
                <a:cs typeface="Poppins"/>
                <a:sym typeface="Poppins"/>
              </a:rPr>
              <a:t>- Thường sử dụng các phương pháp thống kê, bảng dữ liệu nhằm hiểu đặc điểm và tìm ra xu hướng đáng chú ý. </a:t>
            </a:r>
          </a:p>
          <a:p>
            <a:pPr algn="just">
              <a:lnSpc>
                <a:spcPts val="2246"/>
              </a:lnSpc>
            </a:pPr>
          </a:p>
          <a:p>
            <a:pPr algn="just">
              <a:lnSpc>
                <a:spcPts val="2246"/>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3965344" y="-299425"/>
            <a:ext cx="11706247" cy="11706247"/>
          </a:xfrm>
          <a:custGeom>
            <a:avLst/>
            <a:gdLst/>
            <a:ahLst/>
            <a:cxnLst/>
            <a:rect r="r" b="b" t="t" l="l"/>
            <a:pathLst>
              <a:path h="11706247" w="11706247">
                <a:moveTo>
                  <a:pt x="0" y="0"/>
                </a:moveTo>
                <a:lnTo>
                  <a:pt x="11706247" y="0"/>
                </a:lnTo>
                <a:lnTo>
                  <a:pt x="11706247" y="11706247"/>
                </a:lnTo>
                <a:lnTo>
                  <a:pt x="0" y="117062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65251" y="-1543050"/>
            <a:ext cx="4199655" cy="3086100"/>
            <a:chOff x="0" y="0"/>
            <a:chExt cx="1106082" cy="812800"/>
          </a:xfrm>
        </p:grpSpPr>
        <p:sp>
          <p:nvSpPr>
            <p:cNvPr name="Freeform 4" id="4"/>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5" id="5"/>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6" id="6"/>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78717" y="2777911"/>
            <a:ext cx="8879667" cy="6650140"/>
          </a:xfrm>
          <a:custGeom>
            <a:avLst/>
            <a:gdLst/>
            <a:ahLst/>
            <a:cxnLst/>
            <a:rect r="r" b="b" t="t" l="l"/>
            <a:pathLst>
              <a:path h="6650140" w="8879667">
                <a:moveTo>
                  <a:pt x="0" y="0"/>
                </a:moveTo>
                <a:lnTo>
                  <a:pt x="8879667" y="0"/>
                </a:lnTo>
                <a:lnTo>
                  <a:pt x="8879667" y="6650140"/>
                </a:lnTo>
                <a:lnTo>
                  <a:pt x="0" y="66501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310508" y="5553699"/>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8245241" y="1992747"/>
            <a:ext cx="7602789" cy="654173"/>
          </a:xfrm>
          <a:prstGeom prst="rect">
            <a:avLst/>
          </a:prstGeom>
        </p:spPr>
        <p:txBody>
          <a:bodyPr anchor="t" rtlCol="false" tIns="0" lIns="0" bIns="0" rIns="0">
            <a:spAutoFit/>
          </a:bodyPr>
          <a:lstStyle/>
          <a:p>
            <a:pPr algn="l">
              <a:lnSpc>
                <a:spcPts val="4978"/>
              </a:lnSpc>
            </a:pPr>
            <a:r>
              <a:rPr lang="en-US" sz="4741" b="true">
                <a:solidFill>
                  <a:srgbClr val="FFFFFF"/>
                </a:solidFill>
                <a:latin typeface="TT Lakes Neue Expanded Bold"/>
                <a:ea typeface="TT Lakes Neue Expanded Bold"/>
                <a:cs typeface="TT Lakes Neue Expanded Bold"/>
                <a:sym typeface="TT Lakes Neue Expanded Bold"/>
              </a:rPr>
              <a:t>QUY TRÌNH EDA</a:t>
            </a:r>
          </a:p>
        </p:txBody>
      </p:sp>
      <p:sp>
        <p:nvSpPr>
          <p:cNvPr name="Freeform 10" id="10"/>
          <p:cNvSpPr/>
          <p:nvPr/>
        </p:nvSpPr>
        <p:spPr>
          <a:xfrm flipH="false" flipV="false" rot="0">
            <a:off x="14778288" y="-2216465"/>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10"/>
            <a:stretch>
              <a:fillRect l="0" t="0" r="0" b="0"/>
            </a:stretch>
          </a:blipFill>
        </p:spPr>
      </p:sp>
      <p:sp>
        <p:nvSpPr>
          <p:cNvPr name="Freeform 11" id="11"/>
          <p:cNvSpPr/>
          <p:nvPr/>
        </p:nvSpPr>
        <p:spPr>
          <a:xfrm flipH="false" flipV="false" rot="0">
            <a:off x="-3396456" y="4248457"/>
            <a:ext cx="4607176" cy="5421018"/>
          </a:xfrm>
          <a:custGeom>
            <a:avLst/>
            <a:gdLst/>
            <a:ahLst/>
            <a:cxnLst/>
            <a:rect r="r" b="b" t="t" l="l"/>
            <a:pathLst>
              <a:path h="5421018" w="4607176">
                <a:moveTo>
                  <a:pt x="0" y="0"/>
                </a:moveTo>
                <a:lnTo>
                  <a:pt x="4607175" y="0"/>
                </a:lnTo>
                <a:lnTo>
                  <a:pt x="4607175" y="5421019"/>
                </a:lnTo>
                <a:lnTo>
                  <a:pt x="0" y="5421019"/>
                </a:lnTo>
                <a:lnTo>
                  <a:pt x="0" y="0"/>
                </a:lnTo>
                <a:close/>
              </a:path>
            </a:pathLst>
          </a:custGeom>
          <a:blipFill>
            <a:blip r:embed="rId10"/>
            <a:stretch>
              <a:fillRect l="0" t="0" r="0" b="0"/>
            </a:stretch>
          </a:blipFill>
        </p:spPr>
      </p:sp>
      <p:grpSp>
        <p:nvGrpSpPr>
          <p:cNvPr name="Group 12" id="12"/>
          <p:cNvGrpSpPr/>
          <p:nvPr/>
        </p:nvGrpSpPr>
        <p:grpSpPr>
          <a:xfrm rot="0">
            <a:off x="8245241" y="2855209"/>
            <a:ext cx="3814194" cy="748374"/>
            <a:chOff x="0" y="0"/>
            <a:chExt cx="1004561" cy="197103"/>
          </a:xfrm>
        </p:grpSpPr>
        <p:sp>
          <p:nvSpPr>
            <p:cNvPr name="Freeform 13" id="13"/>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4" id="14"/>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15" id="15"/>
          <p:cNvSpPr/>
          <p:nvPr/>
        </p:nvSpPr>
        <p:spPr>
          <a:xfrm flipH="false" flipV="false" rot="0">
            <a:off x="8431072" y="2991949"/>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6" id="16"/>
          <p:cNvGrpSpPr/>
          <p:nvPr/>
        </p:nvGrpSpPr>
        <p:grpSpPr>
          <a:xfrm rot="0">
            <a:off x="8245241" y="4815922"/>
            <a:ext cx="3814194" cy="748374"/>
            <a:chOff x="0" y="0"/>
            <a:chExt cx="1004561" cy="197103"/>
          </a:xfrm>
        </p:grpSpPr>
        <p:sp>
          <p:nvSpPr>
            <p:cNvPr name="Freeform 17" id="17"/>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8" id="18"/>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19" id="19"/>
          <p:cNvSpPr/>
          <p:nvPr/>
        </p:nvSpPr>
        <p:spPr>
          <a:xfrm flipH="false" flipV="false" rot="0">
            <a:off x="8431072" y="4926606"/>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0" id="20"/>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21" id="21"/>
          <p:cNvSpPr txBox="true"/>
          <p:nvPr/>
        </p:nvSpPr>
        <p:spPr>
          <a:xfrm rot="0">
            <a:off x="8740568" y="3106483"/>
            <a:ext cx="3038854" cy="284603"/>
          </a:xfrm>
          <a:prstGeom prst="rect">
            <a:avLst/>
          </a:prstGeom>
        </p:spPr>
        <p:txBody>
          <a:bodyPr anchor="t" rtlCol="false" tIns="0" lIns="0" bIns="0" rIns="0">
            <a:spAutoFit/>
          </a:bodyPr>
          <a:lstStyle/>
          <a:p>
            <a:pPr algn="just">
              <a:lnSpc>
                <a:spcPts val="2036"/>
              </a:lnSpc>
              <a:spcBef>
                <a:spcPct val="0"/>
              </a:spcBef>
            </a:pPr>
            <a:r>
              <a:rPr lang="en-US" b="true" sz="1939" spc="65">
                <a:solidFill>
                  <a:srgbClr val="FFFFFF"/>
                </a:solidFill>
                <a:latin typeface="Poppins Bold"/>
                <a:ea typeface="Poppins Bold"/>
                <a:cs typeface="Poppins Bold"/>
                <a:sym typeface="Poppins Bold"/>
              </a:rPr>
              <a:t>DATA UNDERSTANDING </a:t>
            </a:r>
          </a:p>
        </p:txBody>
      </p:sp>
      <p:sp>
        <p:nvSpPr>
          <p:cNvPr name="TextBox 22" id="22"/>
          <p:cNvSpPr txBox="true"/>
          <p:nvPr/>
        </p:nvSpPr>
        <p:spPr>
          <a:xfrm rot="0">
            <a:off x="8740568" y="5041140"/>
            <a:ext cx="3531388"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DATA ANALYSIS</a:t>
            </a:r>
          </a:p>
        </p:txBody>
      </p:sp>
      <p:sp>
        <p:nvSpPr>
          <p:cNvPr name="TextBox 23" id="23"/>
          <p:cNvSpPr txBox="true"/>
          <p:nvPr/>
        </p:nvSpPr>
        <p:spPr>
          <a:xfrm rot="0">
            <a:off x="8245241" y="3956008"/>
            <a:ext cx="6483528" cy="307463"/>
          </a:xfrm>
          <a:prstGeom prst="rect">
            <a:avLst/>
          </a:prstGeom>
        </p:spPr>
        <p:txBody>
          <a:bodyPr anchor="t" rtlCol="false" tIns="0" lIns="0" bIns="0" rIns="0">
            <a:spAutoFit/>
          </a:bodyPr>
          <a:lstStyle/>
          <a:p>
            <a:pPr algn="l" marL="461985" indent="-230992" lvl="1">
              <a:lnSpc>
                <a:spcPts val="2246"/>
              </a:lnSpc>
              <a:spcBef>
                <a:spcPct val="0"/>
              </a:spcBef>
              <a:buFont typeface="Arial"/>
              <a:buChar char="•"/>
            </a:pPr>
            <a:r>
              <a:rPr lang="en-US" sz="2139" spc="72">
                <a:solidFill>
                  <a:srgbClr val="FFFFFF"/>
                </a:solidFill>
                <a:latin typeface="Poppins"/>
                <a:ea typeface="Poppins"/>
                <a:cs typeface="Poppins"/>
                <a:sym typeface="Poppins"/>
              </a:rPr>
              <a:t>Tìm hiểu cấu trúc và chất lượng dữ liệu</a:t>
            </a:r>
          </a:p>
        </p:txBody>
      </p:sp>
      <p:sp>
        <p:nvSpPr>
          <p:cNvPr name="TextBox 24" id="24"/>
          <p:cNvSpPr txBox="true"/>
          <p:nvPr/>
        </p:nvSpPr>
        <p:spPr>
          <a:xfrm rot="0">
            <a:off x="8245241" y="5954012"/>
            <a:ext cx="6483528" cy="583688"/>
          </a:xfrm>
          <a:prstGeom prst="rect">
            <a:avLst/>
          </a:prstGeom>
        </p:spPr>
        <p:txBody>
          <a:bodyPr anchor="t" rtlCol="false" tIns="0" lIns="0" bIns="0" rIns="0">
            <a:spAutoFit/>
          </a:bodyPr>
          <a:lstStyle/>
          <a:p>
            <a:pPr algn="l" marL="461985" indent="-230992" lvl="1">
              <a:lnSpc>
                <a:spcPts val="2246"/>
              </a:lnSpc>
              <a:spcBef>
                <a:spcPct val="0"/>
              </a:spcBef>
              <a:buFont typeface="Arial"/>
              <a:buChar char="•"/>
            </a:pPr>
            <a:r>
              <a:rPr lang="en-US" sz="2139" spc="72">
                <a:solidFill>
                  <a:srgbClr val="FFFFFF"/>
                </a:solidFill>
                <a:latin typeface="Poppins"/>
                <a:ea typeface="Poppins"/>
                <a:cs typeface="Poppins"/>
                <a:sym typeface="Poppins"/>
              </a:rPr>
              <a:t>Tính toán thống kê, tìm xu hướng và mối qua hệ</a:t>
            </a:r>
          </a:p>
        </p:txBody>
      </p:sp>
      <p:grpSp>
        <p:nvGrpSpPr>
          <p:cNvPr name="Group 25" id="25"/>
          <p:cNvGrpSpPr/>
          <p:nvPr/>
        </p:nvGrpSpPr>
        <p:grpSpPr>
          <a:xfrm rot="0">
            <a:off x="8245241" y="6958966"/>
            <a:ext cx="3814194" cy="748374"/>
            <a:chOff x="0" y="0"/>
            <a:chExt cx="1004561" cy="197103"/>
          </a:xfrm>
        </p:grpSpPr>
        <p:sp>
          <p:nvSpPr>
            <p:cNvPr name="Freeform 26" id="26"/>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7" id="27"/>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28" id="28"/>
          <p:cNvSpPr/>
          <p:nvPr/>
        </p:nvSpPr>
        <p:spPr>
          <a:xfrm flipH="false" flipV="false" rot="0">
            <a:off x="8431072" y="7090150"/>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9" id="29"/>
          <p:cNvSpPr txBox="true"/>
          <p:nvPr/>
        </p:nvSpPr>
        <p:spPr>
          <a:xfrm rot="0">
            <a:off x="8740568" y="7204684"/>
            <a:ext cx="3531388"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DATA VISUALIZATION</a:t>
            </a:r>
          </a:p>
        </p:txBody>
      </p:sp>
      <p:sp>
        <p:nvSpPr>
          <p:cNvPr name="TextBox 30" id="30"/>
          <p:cNvSpPr txBox="true"/>
          <p:nvPr/>
        </p:nvSpPr>
        <p:spPr>
          <a:xfrm rot="0">
            <a:off x="8245241" y="8059766"/>
            <a:ext cx="6483528" cy="307463"/>
          </a:xfrm>
          <a:prstGeom prst="rect">
            <a:avLst/>
          </a:prstGeom>
        </p:spPr>
        <p:txBody>
          <a:bodyPr anchor="t" rtlCol="false" tIns="0" lIns="0" bIns="0" rIns="0">
            <a:spAutoFit/>
          </a:bodyPr>
          <a:lstStyle/>
          <a:p>
            <a:pPr algn="l" marL="461985" indent="-230992" lvl="1">
              <a:lnSpc>
                <a:spcPts val="2246"/>
              </a:lnSpc>
              <a:spcBef>
                <a:spcPct val="0"/>
              </a:spcBef>
              <a:buFont typeface="Arial"/>
              <a:buChar char="•"/>
            </a:pPr>
            <a:r>
              <a:rPr lang="en-US" sz="2139" spc="72">
                <a:solidFill>
                  <a:srgbClr val="FFFFFF"/>
                </a:solidFill>
                <a:latin typeface="Poppins"/>
                <a:ea typeface="Poppins"/>
                <a:cs typeface="Poppins"/>
                <a:sym typeface="Poppins"/>
              </a:rPr>
              <a:t>Sử dụng biểu đồ có tính trực quan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36392" y="2726268"/>
            <a:ext cx="11073121" cy="1409306"/>
          </a:xfrm>
          <a:custGeom>
            <a:avLst/>
            <a:gdLst/>
            <a:ahLst/>
            <a:cxnLst/>
            <a:rect r="r" b="b" t="t" l="l"/>
            <a:pathLst>
              <a:path h="1409306" w="11073121">
                <a:moveTo>
                  <a:pt x="0" y="0"/>
                </a:moveTo>
                <a:lnTo>
                  <a:pt x="11073121" y="0"/>
                </a:lnTo>
                <a:lnTo>
                  <a:pt x="11073121" y="1409306"/>
                </a:lnTo>
                <a:lnTo>
                  <a:pt x="0" y="1409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4390656" y="-1681809"/>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6"/>
            <a:stretch>
              <a:fillRect l="0" t="0" r="0" b="0"/>
            </a:stretch>
          </a:blipFill>
        </p:spPr>
      </p:sp>
      <p:sp>
        <p:nvSpPr>
          <p:cNvPr name="Freeform 8" id="8"/>
          <p:cNvSpPr/>
          <p:nvPr/>
        </p:nvSpPr>
        <p:spPr>
          <a:xfrm flipH="false" flipV="false" rot="0">
            <a:off x="8732038" y="8397334"/>
            <a:ext cx="549282" cy="549282"/>
          </a:xfrm>
          <a:custGeom>
            <a:avLst/>
            <a:gdLst/>
            <a:ahLst/>
            <a:cxnLst/>
            <a:rect r="r" b="b" t="t" l="l"/>
            <a:pathLst>
              <a:path h="549282" w="549282">
                <a:moveTo>
                  <a:pt x="0" y="0"/>
                </a:moveTo>
                <a:lnTo>
                  <a:pt x="549283" y="0"/>
                </a:lnTo>
                <a:lnTo>
                  <a:pt x="549283" y="549283"/>
                </a:lnTo>
                <a:lnTo>
                  <a:pt x="0" y="5492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2719397" y="5833143"/>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6"/>
            <a:stretch>
              <a:fillRect l="0" t="0" r="0" b="0"/>
            </a:stretch>
          </a:blipFill>
        </p:spPr>
      </p:sp>
      <p:sp>
        <p:nvSpPr>
          <p:cNvPr name="Freeform 10" id="10"/>
          <p:cNvSpPr/>
          <p:nvPr/>
        </p:nvSpPr>
        <p:spPr>
          <a:xfrm flipH="false" flipV="false" rot="0">
            <a:off x="12364703" y="3071432"/>
            <a:ext cx="7103391" cy="7064645"/>
          </a:xfrm>
          <a:custGeom>
            <a:avLst/>
            <a:gdLst/>
            <a:ahLst/>
            <a:cxnLst/>
            <a:rect r="r" b="b" t="t" l="l"/>
            <a:pathLst>
              <a:path h="7064645" w="7103391">
                <a:moveTo>
                  <a:pt x="0" y="0"/>
                </a:moveTo>
                <a:lnTo>
                  <a:pt x="7103390" y="0"/>
                </a:lnTo>
                <a:lnTo>
                  <a:pt x="7103390" y="7064645"/>
                </a:lnTo>
                <a:lnTo>
                  <a:pt x="0" y="70646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2" id="12"/>
          <p:cNvSpPr txBox="true"/>
          <p:nvPr/>
        </p:nvSpPr>
        <p:spPr>
          <a:xfrm rot="0">
            <a:off x="3273457" y="3185965"/>
            <a:ext cx="10917162" cy="553244"/>
          </a:xfrm>
          <a:prstGeom prst="rect">
            <a:avLst/>
          </a:prstGeom>
        </p:spPr>
        <p:txBody>
          <a:bodyPr anchor="t" rtlCol="false" tIns="0" lIns="0" bIns="0" rIns="0">
            <a:spAutoFit/>
          </a:bodyPr>
          <a:lstStyle/>
          <a:p>
            <a:pPr algn="l">
              <a:lnSpc>
                <a:spcPts val="4243"/>
              </a:lnSpc>
            </a:pPr>
            <a:r>
              <a:rPr lang="en-US" sz="4041" b="true">
                <a:solidFill>
                  <a:srgbClr val="FFFFFF"/>
                </a:solidFill>
                <a:latin typeface="TT Lakes Neue Expanded Bold"/>
                <a:ea typeface="TT Lakes Neue Expanded Bold"/>
                <a:cs typeface="TT Lakes Neue Expanded Bold"/>
                <a:sym typeface="TT Lakes Neue Expanded Bold"/>
              </a:rPr>
              <a:t>DATA UNDERSTANDING </a:t>
            </a:r>
          </a:p>
        </p:txBody>
      </p:sp>
      <p:sp>
        <p:nvSpPr>
          <p:cNvPr name="TextBox 13" id="13"/>
          <p:cNvSpPr txBox="true"/>
          <p:nvPr/>
        </p:nvSpPr>
        <p:spPr>
          <a:xfrm rot="0">
            <a:off x="2727129" y="4597216"/>
            <a:ext cx="9145802" cy="2522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Data Understanding — Tìm hiểu dữ liệu</a:t>
            </a:r>
          </a:p>
        </p:txBody>
      </p:sp>
      <p:sp>
        <p:nvSpPr>
          <p:cNvPr name="TextBox 14" id="14"/>
          <p:cNvSpPr txBox="true"/>
          <p:nvPr/>
        </p:nvSpPr>
        <p:spPr>
          <a:xfrm rot="0">
            <a:off x="2727129" y="5306634"/>
            <a:ext cx="9145802" cy="4808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a:t>
            </a:r>
            <a:r>
              <a:rPr lang="en-US" sz="1739" spc="59">
                <a:solidFill>
                  <a:srgbClr val="FFFFFF"/>
                </a:solidFill>
                <a:latin typeface="Poppins"/>
                <a:ea typeface="Poppins"/>
                <a:cs typeface="Poppins"/>
                <a:sym typeface="Poppins"/>
              </a:rPr>
              <a:t> Đây là bước đầu tiên, giúp mình biết dữ liệu có cấu trúc như thế nào và có vấn đề gì cần xử lý không. </a:t>
            </a:r>
          </a:p>
        </p:txBody>
      </p:sp>
      <p:sp>
        <p:nvSpPr>
          <p:cNvPr name="TextBox 15" id="15"/>
          <p:cNvSpPr txBox="true"/>
          <p:nvPr/>
        </p:nvSpPr>
        <p:spPr>
          <a:xfrm rot="0">
            <a:off x="2727129" y="6030808"/>
            <a:ext cx="9145802" cy="2522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a:t>
            </a:r>
            <a:r>
              <a:rPr lang="en-US" sz="1739" spc="59">
                <a:solidFill>
                  <a:srgbClr val="FFFFFF"/>
                </a:solidFill>
                <a:latin typeface="Poppins"/>
                <a:ea typeface="Poppins"/>
                <a:cs typeface="Poppins"/>
                <a:sym typeface="Poppins"/>
              </a:rPr>
              <a:t> Phân biệt các kiểu dữ liệu</a:t>
            </a:r>
          </a:p>
        </p:txBody>
      </p:sp>
      <p:sp>
        <p:nvSpPr>
          <p:cNvPr name="TextBox 16" id="16"/>
          <p:cNvSpPr txBox="true"/>
          <p:nvPr/>
        </p:nvSpPr>
        <p:spPr>
          <a:xfrm rot="0">
            <a:off x="2727129" y="6629127"/>
            <a:ext cx="9145802" cy="2522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 Việc nhận diện đúng kiểu dữ liệu giúp lựa chọn cách phân tích phù hợp.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333483" y="-5083807"/>
            <a:ext cx="11706247" cy="11706247"/>
          </a:xfrm>
          <a:custGeom>
            <a:avLst/>
            <a:gdLst/>
            <a:ahLst/>
            <a:cxnLst/>
            <a:rect r="r" b="b" t="t" l="l"/>
            <a:pathLst>
              <a:path h="11706247" w="11706247">
                <a:moveTo>
                  <a:pt x="0" y="0"/>
                </a:moveTo>
                <a:lnTo>
                  <a:pt x="11706247" y="0"/>
                </a:lnTo>
                <a:lnTo>
                  <a:pt x="11706247" y="11706247"/>
                </a:lnTo>
                <a:lnTo>
                  <a:pt x="0" y="117062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713524" y="509932"/>
            <a:ext cx="8619959" cy="9775211"/>
          </a:xfrm>
          <a:custGeom>
            <a:avLst/>
            <a:gdLst/>
            <a:ahLst/>
            <a:cxnLst/>
            <a:rect r="r" b="b" t="t" l="l"/>
            <a:pathLst>
              <a:path h="9775211" w="8619959">
                <a:moveTo>
                  <a:pt x="0" y="0"/>
                </a:moveTo>
                <a:lnTo>
                  <a:pt x="8619959" y="0"/>
                </a:lnTo>
                <a:lnTo>
                  <a:pt x="8619959" y="9775212"/>
                </a:lnTo>
                <a:lnTo>
                  <a:pt x="0" y="97752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984659" y="653111"/>
            <a:ext cx="549282" cy="549282"/>
          </a:xfrm>
          <a:custGeom>
            <a:avLst/>
            <a:gdLst/>
            <a:ahLst/>
            <a:cxnLst/>
            <a:rect r="r" b="b" t="t" l="l"/>
            <a:pathLst>
              <a:path h="549282" w="549282">
                <a:moveTo>
                  <a:pt x="0" y="0"/>
                </a:moveTo>
                <a:lnTo>
                  <a:pt x="549282" y="0"/>
                </a:lnTo>
                <a:lnTo>
                  <a:pt x="549282" y="549283"/>
                </a:lnTo>
                <a:lnTo>
                  <a:pt x="0" y="5492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439319" y="3303904"/>
            <a:ext cx="3224921" cy="6983096"/>
          </a:xfrm>
          <a:custGeom>
            <a:avLst/>
            <a:gdLst/>
            <a:ahLst/>
            <a:cxnLst/>
            <a:rect r="r" b="b" t="t" l="l"/>
            <a:pathLst>
              <a:path h="6983096" w="3224921">
                <a:moveTo>
                  <a:pt x="0" y="0"/>
                </a:moveTo>
                <a:lnTo>
                  <a:pt x="3224921" y="0"/>
                </a:lnTo>
                <a:lnTo>
                  <a:pt x="3224921" y="6983096"/>
                </a:lnTo>
                <a:lnTo>
                  <a:pt x="0" y="69830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5611086" y="2441111"/>
            <a:ext cx="2876511" cy="3228737"/>
          </a:xfrm>
          <a:custGeom>
            <a:avLst/>
            <a:gdLst/>
            <a:ahLst/>
            <a:cxnLst/>
            <a:rect r="r" b="b" t="t" l="l"/>
            <a:pathLst>
              <a:path h="3228737" w="2876511">
                <a:moveTo>
                  <a:pt x="0" y="0"/>
                </a:moveTo>
                <a:lnTo>
                  <a:pt x="2876511" y="0"/>
                </a:lnTo>
                <a:lnTo>
                  <a:pt x="2876511" y="3228736"/>
                </a:lnTo>
                <a:lnTo>
                  <a:pt x="0" y="322873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2" id="12"/>
          <p:cNvSpPr txBox="true"/>
          <p:nvPr/>
        </p:nvSpPr>
        <p:spPr>
          <a:xfrm rot="0">
            <a:off x="5159055" y="2346064"/>
            <a:ext cx="7728897" cy="65230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DATA ANALYSIS </a:t>
            </a:r>
          </a:p>
        </p:txBody>
      </p:sp>
      <p:sp>
        <p:nvSpPr>
          <p:cNvPr name="Freeform 13" id="13"/>
          <p:cNvSpPr/>
          <p:nvPr/>
        </p:nvSpPr>
        <p:spPr>
          <a:xfrm flipH="true" flipV="false" rot="0">
            <a:off x="152247" y="3302047"/>
            <a:ext cx="3224921" cy="6983096"/>
          </a:xfrm>
          <a:custGeom>
            <a:avLst/>
            <a:gdLst/>
            <a:ahLst/>
            <a:cxnLst/>
            <a:rect r="r" b="b" t="t" l="l"/>
            <a:pathLst>
              <a:path h="6983096" w="3224921">
                <a:moveTo>
                  <a:pt x="3224921" y="0"/>
                </a:moveTo>
                <a:lnTo>
                  <a:pt x="0" y="0"/>
                </a:lnTo>
                <a:lnTo>
                  <a:pt x="0" y="6983097"/>
                </a:lnTo>
                <a:lnTo>
                  <a:pt x="3224921" y="6983097"/>
                </a:lnTo>
                <a:lnTo>
                  <a:pt x="322492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324014" y="2439254"/>
            <a:ext cx="2876511" cy="3228737"/>
          </a:xfrm>
          <a:custGeom>
            <a:avLst/>
            <a:gdLst/>
            <a:ahLst/>
            <a:cxnLst/>
            <a:rect r="r" b="b" t="t" l="l"/>
            <a:pathLst>
              <a:path h="3228737" w="2876511">
                <a:moveTo>
                  <a:pt x="2876511" y="0"/>
                </a:moveTo>
                <a:lnTo>
                  <a:pt x="0" y="0"/>
                </a:lnTo>
                <a:lnTo>
                  <a:pt x="0" y="3228737"/>
                </a:lnTo>
                <a:lnTo>
                  <a:pt x="2876511" y="3228737"/>
                </a:lnTo>
                <a:lnTo>
                  <a:pt x="287651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5759605" y="4063148"/>
            <a:ext cx="6768791" cy="4808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 Sau khi hiểu cấu trúc dữ liệu, mình bắt đầu tính toán và tìm ra các đặc điểm đáng chú ý. </a:t>
            </a:r>
          </a:p>
        </p:txBody>
      </p:sp>
      <p:sp>
        <p:nvSpPr>
          <p:cNvPr name="TextBox 16" id="16"/>
          <p:cNvSpPr txBox="true"/>
          <p:nvPr/>
        </p:nvSpPr>
        <p:spPr>
          <a:xfrm rot="0">
            <a:off x="5759605" y="5022153"/>
            <a:ext cx="6768791" cy="252219"/>
          </a:xfrm>
          <a:prstGeom prst="rect">
            <a:avLst/>
          </a:prstGeom>
        </p:spPr>
        <p:txBody>
          <a:bodyPr anchor="t" rtlCol="false" tIns="0" lIns="0" bIns="0" rIns="0">
            <a:spAutoFit/>
          </a:bodyPr>
          <a:lstStyle/>
          <a:p>
            <a:pPr algn="l">
              <a:lnSpc>
                <a:spcPts val="1826"/>
              </a:lnSpc>
              <a:spcBef>
                <a:spcPct val="0"/>
              </a:spcBef>
            </a:pPr>
            <a:r>
              <a:rPr lang="en-US" sz="1739" spc="59">
                <a:solidFill>
                  <a:srgbClr val="FFFFFF"/>
                </a:solidFill>
                <a:latin typeface="Poppins"/>
                <a:ea typeface="Poppins"/>
                <a:cs typeface="Poppins"/>
                <a:sym typeface="Poppins"/>
              </a:rPr>
              <a:t>- Thống kê mô tả.</a:t>
            </a:r>
          </a:p>
        </p:txBody>
      </p:sp>
      <p:sp>
        <p:nvSpPr>
          <p:cNvPr name="TextBox 17" id="17"/>
          <p:cNvSpPr txBox="true"/>
          <p:nvPr/>
        </p:nvSpPr>
        <p:spPr>
          <a:xfrm rot="0">
            <a:off x="5759605" y="5679372"/>
            <a:ext cx="6768791" cy="252219"/>
          </a:xfrm>
          <a:prstGeom prst="rect">
            <a:avLst/>
          </a:prstGeom>
        </p:spPr>
        <p:txBody>
          <a:bodyPr anchor="t" rtlCol="false" tIns="0" lIns="0" bIns="0" rIns="0">
            <a:spAutoFit/>
          </a:bodyPr>
          <a:lstStyle/>
          <a:p>
            <a:pPr algn="l">
              <a:lnSpc>
                <a:spcPts val="1826"/>
              </a:lnSpc>
              <a:spcBef>
                <a:spcPct val="0"/>
              </a:spcBef>
            </a:pPr>
            <a:r>
              <a:rPr lang="en-US" sz="1739" spc="59">
                <a:solidFill>
                  <a:srgbClr val="FFFFFF"/>
                </a:solidFill>
                <a:latin typeface="Poppins"/>
                <a:ea typeface="Poppins"/>
                <a:cs typeface="Poppins"/>
                <a:sym typeface="Poppins"/>
              </a:rPr>
              <a:t>- Phân tích theo nhóm.</a:t>
            </a:r>
          </a:p>
        </p:txBody>
      </p:sp>
      <p:sp>
        <p:nvSpPr>
          <p:cNvPr name="TextBox 18" id="18"/>
          <p:cNvSpPr txBox="true"/>
          <p:nvPr/>
        </p:nvSpPr>
        <p:spPr>
          <a:xfrm rot="0">
            <a:off x="5759605" y="6336591"/>
            <a:ext cx="6768791" cy="252219"/>
          </a:xfrm>
          <a:prstGeom prst="rect">
            <a:avLst/>
          </a:prstGeom>
        </p:spPr>
        <p:txBody>
          <a:bodyPr anchor="t" rtlCol="false" tIns="0" lIns="0" bIns="0" rIns="0">
            <a:spAutoFit/>
          </a:bodyPr>
          <a:lstStyle/>
          <a:p>
            <a:pPr algn="l">
              <a:lnSpc>
                <a:spcPts val="1826"/>
              </a:lnSpc>
              <a:spcBef>
                <a:spcPct val="0"/>
              </a:spcBef>
            </a:pPr>
            <a:r>
              <a:rPr lang="en-US" sz="1739" spc="59">
                <a:solidFill>
                  <a:srgbClr val="FFFFFF"/>
                </a:solidFill>
                <a:latin typeface="Poppins"/>
                <a:ea typeface="Poppins"/>
                <a:cs typeface="Poppins"/>
                <a:sym typeface="Poppins"/>
              </a:rPr>
              <a:t>- Tìm mối quan hệ giữa các biến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390656" y="-1681809"/>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4"/>
            <a:stretch>
              <a:fillRect l="0" t="0" r="0" b="0"/>
            </a:stretch>
          </a:blipFill>
        </p:spPr>
      </p:sp>
      <p:sp>
        <p:nvSpPr>
          <p:cNvPr name="Freeform 7" id="7"/>
          <p:cNvSpPr/>
          <p:nvPr/>
        </p:nvSpPr>
        <p:spPr>
          <a:xfrm flipH="false" flipV="false" rot="0">
            <a:off x="8869359" y="9579106"/>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17422" y="1922978"/>
            <a:ext cx="9000132" cy="2258215"/>
          </a:xfrm>
          <a:custGeom>
            <a:avLst/>
            <a:gdLst/>
            <a:ahLst/>
            <a:cxnLst/>
            <a:rect r="r" b="b" t="t" l="l"/>
            <a:pathLst>
              <a:path h="2258215" w="9000132">
                <a:moveTo>
                  <a:pt x="0" y="0"/>
                </a:moveTo>
                <a:lnTo>
                  <a:pt x="9000132" y="0"/>
                </a:lnTo>
                <a:lnTo>
                  <a:pt x="9000132" y="2258215"/>
                </a:lnTo>
                <a:lnTo>
                  <a:pt x="0" y="22582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9930173" y="1353525"/>
            <a:ext cx="7634745" cy="8500222"/>
          </a:xfrm>
          <a:custGeom>
            <a:avLst/>
            <a:gdLst/>
            <a:ahLst/>
            <a:cxnLst/>
            <a:rect r="r" b="b" t="t" l="l"/>
            <a:pathLst>
              <a:path h="8500222" w="7634745">
                <a:moveTo>
                  <a:pt x="0" y="0"/>
                </a:moveTo>
                <a:lnTo>
                  <a:pt x="7634745" y="0"/>
                </a:lnTo>
                <a:lnTo>
                  <a:pt x="7634745" y="8500222"/>
                </a:lnTo>
                <a:lnTo>
                  <a:pt x="0" y="85002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849183" y="2820231"/>
            <a:ext cx="11069562" cy="520859"/>
          </a:xfrm>
          <a:prstGeom prst="rect">
            <a:avLst/>
          </a:prstGeom>
        </p:spPr>
        <p:txBody>
          <a:bodyPr anchor="t" rtlCol="false" tIns="0" lIns="0" bIns="0" rIns="0">
            <a:spAutoFit/>
          </a:bodyPr>
          <a:lstStyle/>
          <a:p>
            <a:pPr algn="l">
              <a:lnSpc>
                <a:spcPts val="4033"/>
              </a:lnSpc>
            </a:pPr>
            <a:r>
              <a:rPr lang="en-US" sz="3841" b="true">
                <a:solidFill>
                  <a:srgbClr val="FFFFFF"/>
                </a:solidFill>
                <a:latin typeface="TT Lakes Neue Expanded Bold"/>
                <a:ea typeface="TT Lakes Neue Expanded Bold"/>
                <a:cs typeface="TT Lakes Neue Expanded Bold"/>
                <a:sym typeface="TT Lakes Neue Expanded Bold"/>
              </a:rPr>
              <a:t>DATA VISUALIZATION</a:t>
            </a:r>
          </a:p>
        </p:txBody>
      </p:sp>
      <p:sp>
        <p:nvSpPr>
          <p:cNvPr name="Freeform 11" id="11"/>
          <p:cNvSpPr/>
          <p:nvPr/>
        </p:nvSpPr>
        <p:spPr>
          <a:xfrm flipH="false" flipV="false" rot="0">
            <a:off x="10482282" y="3356643"/>
            <a:ext cx="2091627" cy="2057400"/>
          </a:xfrm>
          <a:custGeom>
            <a:avLst/>
            <a:gdLst/>
            <a:ahLst/>
            <a:cxnLst/>
            <a:rect r="r" b="b" t="t" l="l"/>
            <a:pathLst>
              <a:path h="2057400" w="2091627">
                <a:moveTo>
                  <a:pt x="0" y="0"/>
                </a:moveTo>
                <a:lnTo>
                  <a:pt x="2091626" y="0"/>
                </a:lnTo>
                <a:lnTo>
                  <a:pt x="2091626" y="2057400"/>
                </a:lnTo>
                <a:lnTo>
                  <a:pt x="0" y="20574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7052373" y="7632868"/>
            <a:ext cx="2091627" cy="2057400"/>
          </a:xfrm>
          <a:custGeom>
            <a:avLst/>
            <a:gdLst/>
            <a:ahLst/>
            <a:cxnLst/>
            <a:rect r="r" b="b" t="t" l="l"/>
            <a:pathLst>
              <a:path h="2057400" w="2091627">
                <a:moveTo>
                  <a:pt x="0" y="0"/>
                </a:moveTo>
                <a:lnTo>
                  <a:pt x="2091627" y="0"/>
                </a:lnTo>
                <a:lnTo>
                  <a:pt x="2091627" y="2057400"/>
                </a:lnTo>
                <a:lnTo>
                  <a:pt x="0" y="20574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3" id="13"/>
          <p:cNvGrpSpPr/>
          <p:nvPr/>
        </p:nvGrpSpPr>
        <p:grpSpPr>
          <a:xfrm rot="0">
            <a:off x="1117422" y="4600293"/>
            <a:ext cx="4500066" cy="748374"/>
            <a:chOff x="0" y="0"/>
            <a:chExt cx="1185203" cy="197103"/>
          </a:xfrm>
        </p:grpSpPr>
        <p:sp>
          <p:nvSpPr>
            <p:cNvPr name="Freeform 14" id="14"/>
            <p:cNvSpPr/>
            <p:nvPr/>
          </p:nvSpPr>
          <p:spPr>
            <a:xfrm flipH="false" flipV="false" rot="0">
              <a:off x="0" y="0"/>
              <a:ext cx="1185203" cy="197103"/>
            </a:xfrm>
            <a:custGeom>
              <a:avLst/>
              <a:gdLst/>
              <a:ahLst/>
              <a:cxnLst/>
              <a:rect r="r" b="b" t="t" l="l"/>
              <a:pathLst>
                <a:path h="197103" w="1185203">
                  <a:moveTo>
                    <a:pt x="43010" y="0"/>
                  </a:moveTo>
                  <a:lnTo>
                    <a:pt x="1142192" y="0"/>
                  </a:lnTo>
                  <a:cubicBezTo>
                    <a:pt x="1165946" y="0"/>
                    <a:pt x="1185203" y="19256"/>
                    <a:pt x="1185203" y="43010"/>
                  </a:cubicBezTo>
                  <a:lnTo>
                    <a:pt x="1185203" y="154093"/>
                  </a:lnTo>
                  <a:cubicBezTo>
                    <a:pt x="1185203" y="177846"/>
                    <a:pt x="1165946" y="197103"/>
                    <a:pt x="1142192" y="197103"/>
                  </a:cubicBezTo>
                  <a:lnTo>
                    <a:pt x="43010" y="197103"/>
                  </a:lnTo>
                  <a:cubicBezTo>
                    <a:pt x="19256" y="197103"/>
                    <a:pt x="0" y="177846"/>
                    <a:pt x="0" y="154093"/>
                  </a:cubicBezTo>
                  <a:lnTo>
                    <a:pt x="0" y="43010"/>
                  </a:lnTo>
                  <a:cubicBezTo>
                    <a:pt x="0" y="19256"/>
                    <a:pt x="19256" y="0"/>
                    <a:pt x="43010"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5" id="15"/>
            <p:cNvSpPr txBox="true"/>
            <p:nvPr/>
          </p:nvSpPr>
          <p:spPr>
            <a:xfrm>
              <a:off x="0" y="28575"/>
              <a:ext cx="1185203" cy="168528"/>
            </a:xfrm>
            <a:prstGeom prst="rect">
              <a:avLst/>
            </a:prstGeom>
          </p:spPr>
          <p:txBody>
            <a:bodyPr anchor="ctr" rtlCol="false" tIns="50800" lIns="50800" bIns="50800" rIns="50800"/>
            <a:lstStyle/>
            <a:p>
              <a:pPr algn="ctr">
                <a:lnSpc>
                  <a:spcPts val="1826"/>
                </a:lnSpc>
              </a:pPr>
            </a:p>
          </p:txBody>
        </p:sp>
      </p:grpSp>
      <p:sp>
        <p:nvSpPr>
          <p:cNvPr name="Freeform 16" id="16"/>
          <p:cNvSpPr/>
          <p:nvPr/>
        </p:nvSpPr>
        <p:spPr>
          <a:xfrm flipH="false" flipV="false" rot="0">
            <a:off x="1303253" y="4716887"/>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7" id="17"/>
          <p:cNvSpPr txBox="true"/>
          <p:nvPr/>
        </p:nvSpPr>
        <p:spPr>
          <a:xfrm rot="0">
            <a:off x="1764080" y="4831421"/>
            <a:ext cx="4334254"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TỔNG QUAN</a:t>
            </a:r>
          </a:p>
        </p:txBody>
      </p:sp>
      <p:sp>
        <p:nvSpPr>
          <p:cNvPr name="TextBox 18" id="18"/>
          <p:cNvSpPr txBox="true"/>
          <p:nvPr/>
        </p:nvSpPr>
        <p:spPr>
          <a:xfrm rot="0">
            <a:off x="1117422" y="5565475"/>
            <a:ext cx="8026578" cy="4808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 Đây là bước biểu diễn dữ liệu dưới dạng biểu đồ để quan sát xu hướng, sự phân bố và mối quan hệ.</a:t>
            </a:r>
          </a:p>
        </p:txBody>
      </p:sp>
      <p:grpSp>
        <p:nvGrpSpPr>
          <p:cNvPr name="Group 19" id="19"/>
          <p:cNvGrpSpPr/>
          <p:nvPr/>
        </p:nvGrpSpPr>
        <p:grpSpPr>
          <a:xfrm rot="0">
            <a:off x="1117422" y="6884494"/>
            <a:ext cx="4500066" cy="748374"/>
            <a:chOff x="0" y="0"/>
            <a:chExt cx="1185203" cy="197103"/>
          </a:xfrm>
        </p:grpSpPr>
        <p:sp>
          <p:nvSpPr>
            <p:cNvPr name="Freeform 20" id="20"/>
            <p:cNvSpPr/>
            <p:nvPr/>
          </p:nvSpPr>
          <p:spPr>
            <a:xfrm flipH="false" flipV="false" rot="0">
              <a:off x="0" y="0"/>
              <a:ext cx="1185203" cy="197103"/>
            </a:xfrm>
            <a:custGeom>
              <a:avLst/>
              <a:gdLst/>
              <a:ahLst/>
              <a:cxnLst/>
              <a:rect r="r" b="b" t="t" l="l"/>
              <a:pathLst>
                <a:path h="197103" w="1185203">
                  <a:moveTo>
                    <a:pt x="43010" y="0"/>
                  </a:moveTo>
                  <a:lnTo>
                    <a:pt x="1142192" y="0"/>
                  </a:lnTo>
                  <a:cubicBezTo>
                    <a:pt x="1165946" y="0"/>
                    <a:pt x="1185203" y="19256"/>
                    <a:pt x="1185203" y="43010"/>
                  </a:cubicBezTo>
                  <a:lnTo>
                    <a:pt x="1185203" y="154093"/>
                  </a:lnTo>
                  <a:cubicBezTo>
                    <a:pt x="1185203" y="177846"/>
                    <a:pt x="1165946" y="197103"/>
                    <a:pt x="1142192" y="197103"/>
                  </a:cubicBezTo>
                  <a:lnTo>
                    <a:pt x="43010" y="197103"/>
                  </a:lnTo>
                  <a:cubicBezTo>
                    <a:pt x="19256" y="197103"/>
                    <a:pt x="0" y="177846"/>
                    <a:pt x="0" y="154093"/>
                  </a:cubicBezTo>
                  <a:lnTo>
                    <a:pt x="0" y="43010"/>
                  </a:lnTo>
                  <a:cubicBezTo>
                    <a:pt x="0" y="19256"/>
                    <a:pt x="19256" y="0"/>
                    <a:pt x="43010"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1" id="21"/>
            <p:cNvSpPr txBox="true"/>
            <p:nvPr/>
          </p:nvSpPr>
          <p:spPr>
            <a:xfrm>
              <a:off x="0" y="28575"/>
              <a:ext cx="1185203" cy="168528"/>
            </a:xfrm>
            <a:prstGeom prst="rect">
              <a:avLst/>
            </a:prstGeom>
          </p:spPr>
          <p:txBody>
            <a:bodyPr anchor="ctr" rtlCol="false" tIns="50800" lIns="50800" bIns="50800" rIns="50800"/>
            <a:lstStyle/>
            <a:p>
              <a:pPr algn="ctr">
                <a:lnSpc>
                  <a:spcPts val="1826"/>
                </a:lnSpc>
              </a:pPr>
            </a:p>
          </p:txBody>
        </p:sp>
      </p:grpSp>
      <p:sp>
        <p:nvSpPr>
          <p:cNvPr name="Freeform 22" id="22"/>
          <p:cNvSpPr/>
          <p:nvPr/>
        </p:nvSpPr>
        <p:spPr>
          <a:xfrm flipH="false" flipV="false" rot="0">
            <a:off x="1303253" y="7001088"/>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3" id="23"/>
          <p:cNvSpPr txBox="true"/>
          <p:nvPr/>
        </p:nvSpPr>
        <p:spPr>
          <a:xfrm rot="0">
            <a:off x="1714696" y="7010613"/>
            <a:ext cx="3366631" cy="583688"/>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CÁC BIỂU ĐỒ THƯỜNG DÙNG</a:t>
            </a:r>
          </a:p>
        </p:txBody>
      </p:sp>
      <p:sp>
        <p:nvSpPr>
          <p:cNvPr name="TextBox 24" id="24"/>
          <p:cNvSpPr txBox="true"/>
          <p:nvPr/>
        </p:nvSpPr>
        <p:spPr>
          <a:xfrm rot="0">
            <a:off x="1117422" y="7849676"/>
            <a:ext cx="8026578" cy="2522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 Bar chart: Biểu đồ cột.</a:t>
            </a:r>
          </a:p>
        </p:txBody>
      </p:sp>
      <p:sp>
        <p:nvSpPr>
          <p:cNvPr name="TextBox 25" id="25"/>
          <p:cNvSpPr txBox="true"/>
          <p:nvPr/>
        </p:nvSpPr>
        <p:spPr>
          <a:xfrm rot="0">
            <a:off x="1117422" y="6265369"/>
            <a:ext cx="8026578" cy="2522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 Thường dùng thư viện Matplothib.</a:t>
            </a:r>
          </a:p>
        </p:txBody>
      </p:sp>
      <p:sp>
        <p:nvSpPr>
          <p:cNvPr name="TextBox 26" id="26"/>
          <p:cNvSpPr txBox="true"/>
          <p:nvPr/>
        </p:nvSpPr>
        <p:spPr>
          <a:xfrm rot="0">
            <a:off x="1117422" y="8320969"/>
            <a:ext cx="8026578" cy="2522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 Histogram: Biểu đồ tần suất.</a:t>
            </a:r>
          </a:p>
        </p:txBody>
      </p:sp>
      <p:sp>
        <p:nvSpPr>
          <p:cNvPr name="TextBox 27" id="27"/>
          <p:cNvSpPr txBox="true"/>
          <p:nvPr/>
        </p:nvSpPr>
        <p:spPr>
          <a:xfrm rot="0">
            <a:off x="1117422" y="8792263"/>
            <a:ext cx="8026578" cy="2522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 Scatter plot: Biểu đồ phân tán.</a:t>
            </a:r>
          </a:p>
        </p:txBody>
      </p:sp>
      <p:sp>
        <p:nvSpPr>
          <p:cNvPr name="TextBox 28" id="28"/>
          <p:cNvSpPr txBox="true"/>
          <p:nvPr/>
        </p:nvSpPr>
        <p:spPr>
          <a:xfrm rot="0">
            <a:off x="1117422" y="9263557"/>
            <a:ext cx="8026578" cy="709419"/>
          </a:xfrm>
          <a:prstGeom prst="rect">
            <a:avLst/>
          </a:prstGeom>
        </p:spPr>
        <p:txBody>
          <a:bodyPr anchor="t" rtlCol="false" tIns="0" lIns="0" bIns="0" rIns="0">
            <a:spAutoFit/>
          </a:bodyPr>
          <a:lstStyle/>
          <a:p>
            <a:pPr algn="just">
              <a:lnSpc>
                <a:spcPts val="1826"/>
              </a:lnSpc>
            </a:pPr>
            <a:r>
              <a:rPr lang="en-US" sz="1739" spc="59">
                <a:solidFill>
                  <a:srgbClr val="FFFFFF"/>
                </a:solidFill>
                <a:latin typeface="Poppins"/>
                <a:ea typeface="Poppins"/>
                <a:cs typeface="Poppins"/>
                <a:sym typeface="Poppins"/>
              </a:rPr>
              <a:t>+ Line chart: Biểu đồ đường.</a:t>
            </a:r>
          </a:p>
          <a:p>
            <a:pPr algn="just">
              <a:lnSpc>
                <a:spcPts val="1826"/>
              </a:lnSpc>
            </a:pPr>
          </a:p>
          <a:p>
            <a:pPr algn="just">
              <a:lnSpc>
                <a:spcPts val="1826"/>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4416186" y="1135773"/>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2"/>
            <a:stretch>
              <a:fillRect l="0" t="0" r="0" b="0"/>
            </a:stretch>
          </a:blipFill>
        </p:spPr>
      </p:sp>
      <p:grpSp>
        <p:nvGrpSpPr>
          <p:cNvPr name="Group 3" id="3"/>
          <p:cNvGrpSpPr/>
          <p:nvPr/>
        </p:nvGrpSpPr>
        <p:grpSpPr>
          <a:xfrm rot="0">
            <a:off x="-365251" y="-1543050"/>
            <a:ext cx="4199655" cy="3086100"/>
            <a:chOff x="0" y="0"/>
            <a:chExt cx="1106082" cy="812800"/>
          </a:xfrm>
        </p:grpSpPr>
        <p:sp>
          <p:nvSpPr>
            <p:cNvPr name="Freeform 4" id="4"/>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5" id="5"/>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6" id="6"/>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762244" y="2186245"/>
            <a:ext cx="6994113" cy="8229600"/>
          </a:xfrm>
          <a:custGeom>
            <a:avLst/>
            <a:gdLst/>
            <a:ahLst/>
            <a:cxnLst/>
            <a:rect r="r" b="b" t="t" l="l"/>
            <a:pathLst>
              <a:path h="8229600" w="6994113">
                <a:moveTo>
                  <a:pt x="0" y="0"/>
                </a:moveTo>
                <a:lnTo>
                  <a:pt x="6994112" y="0"/>
                </a:lnTo>
                <a:lnTo>
                  <a:pt x="6994112" y="8229600"/>
                </a:lnTo>
                <a:lnTo>
                  <a:pt x="0" y="8229600"/>
                </a:lnTo>
                <a:lnTo>
                  <a:pt x="0" y="0"/>
                </a:lnTo>
                <a:close/>
              </a:path>
            </a:pathLst>
          </a:custGeom>
          <a:blipFill>
            <a:blip r:embed="rId2"/>
            <a:stretch>
              <a:fillRect l="0" t="0" r="0" b="0"/>
            </a:stretch>
          </a:blipFill>
        </p:spPr>
      </p:sp>
      <p:sp>
        <p:nvSpPr>
          <p:cNvPr name="Freeform 8" id="8"/>
          <p:cNvSpPr/>
          <p:nvPr/>
        </p:nvSpPr>
        <p:spPr>
          <a:xfrm flipH="false" flipV="false" rot="0">
            <a:off x="1028700" y="1653955"/>
            <a:ext cx="16514364" cy="7086163"/>
          </a:xfrm>
          <a:custGeom>
            <a:avLst/>
            <a:gdLst/>
            <a:ahLst/>
            <a:cxnLst/>
            <a:rect r="r" b="b" t="t" l="l"/>
            <a:pathLst>
              <a:path h="7086163" w="16514364">
                <a:moveTo>
                  <a:pt x="0" y="0"/>
                </a:moveTo>
                <a:lnTo>
                  <a:pt x="16514364" y="0"/>
                </a:lnTo>
                <a:lnTo>
                  <a:pt x="16514364" y="7086163"/>
                </a:lnTo>
                <a:lnTo>
                  <a:pt x="0" y="70861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0" id="10"/>
          <p:cNvSpPr txBox="true"/>
          <p:nvPr/>
        </p:nvSpPr>
        <p:spPr>
          <a:xfrm rot="0">
            <a:off x="3108024" y="4190186"/>
            <a:ext cx="11959365" cy="1407068"/>
          </a:xfrm>
          <a:prstGeom prst="rect">
            <a:avLst/>
          </a:prstGeom>
        </p:spPr>
        <p:txBody>
          <a:bodyPr anchor="t" rtlCol="false" tIns="0" lIns="0" bIns="0" rIns="0">
            <a:spAutoFit/>
          </a:bodyPr>
          <a:lstStyle/>
          <a:p>
            <a:pPr algn="ctr">
              <a:lnSpc>
                <a:spcPts val="10705"/>
              </a:lnSpc>
            </a:pPr>
            <a:r>
              <a:rPr lang="en-US" b="true" sz="10195">
                <a:solidFill>
                  <a:srgbClr val="FFFFFF"/>
                </a:solidFill>
                <a:latin typeface="TT Lakes Neue Expanded Bold"/>
                <a:ea typeface="TT Lakes Neue Expanded Bold"/>
                <a:cs typeface="TT Lakes Neue Expanded Bold"/>
                <a:sym typeface="TT Lakes Neue Expanded Bold"/>
              </a:rPr>
              <a:t>THANK YOU!</a:t>
            </a:r>
          </a:p>
        </p:txBody>
      </p:sp>
      <p:sp>
        <p:nvSpPr>
          <p:cNvPr name="TextBox 11" id="11"/>
          <p:cNvSpPr txBox="true"/>
          <p:nvPr/>
        </p:nvSpPr>
        <p:spPr>
          <a:xfrm rot="0">
            <a:off x="5074418" y="5949767"/>
            <a:ext cx="8026578" cy="1002788"/>
          </a:xfrm>
          <a:prstGeom prst="rect">
            <a:avLst/>
          </a:prstGeom>
        </p:spPr>
        <p:txBody>
          <a:bodyPr anchor="t" rtlCol="false" tIns="0" lIns="0" bIns="0" rIns="0">
            <a:spAutoFit/>
          </a:bodyPr>
          <a:lstStyle/>
          <a:p>
            <a:pPr algn="ctr">
              <a:lnSpc>
                <a:spcPts val="3821"/>
              </a:lnSpc>
              <a:spcBef>
                <a:spcPct val="0"/>
              </a:spcBef>
            </a:pPr>
            <a:r>
              <a:rPr lang="en-US" sz="3639" i="true" spc="123">
                <a:solidFill>
                  <a:srgbClr val="FFFFFF"/>
                </a:solidFill>
                <a:latin typeface="Poppins Italics"/>
                <a:ea typeface="Poppins Italics"/>
                <a:cs typeface="Poppins Italics"/>
                <a:sym typeface="Poppins Italics"/>
              </a:rPr>
              <a:t>Exploring the future of</a:t>
            </a:r>
            <a:r>
              <a:rPr lang="en-US" sz="3639" i="true" spc="123">
                <a:solidFill>
                  <a:srgbClr val="FFFFFF"/>
                </a:solidFill>
                <a:latin typeface="Poppins Italics"/>
                <a:ea typeface="Poppins Italics"/>
                <a:cs typeface="Poppins Italics"/>
                <a:sym typeface="Poppins Italics"/>
              </a:rPr>
              <a:t> c</a:t>
            </a:r>
            <a:r>
              <a:rPr lang="en-US" sz="3639" i="true" spc="123">
                <a:solidFill>
                  <a:srgbClr val="FFFFFF"/>
                </a:solidFill>
                <a:latin typeface="Poppins Italics"/>
                <a:ea typeface="Poppins Italics"/>
                <a:cs typeface="Poppins Italics"/>
                <a:sym typeface="Poppins Italics"/>
              </a:rPr>
              <a:t>omputing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DAHYnzdbvI4</dc:identifier>
  <dcterms:modified xsi:type="dcterms:W3CDTF">2011-08-01T06:04:30Z</dcterms:modified>
  <cp:revision>1</cp:revision>
  <dc:title>Green and Blue Futuristic Technology Computer Science Presentation</dc:title>
</cp:coreProperties>
</file>